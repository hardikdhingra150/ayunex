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8ccb0afec413f" /><Relationship Type="http://schemas.openxmlformats.org/officeDocument/2006/relationships/extended-properties" Target="/docProps/app.xml" Id="Rbff029f5c18b4b0e" /><Relationship Type="http://schemas.openxmlformats.org/officeDocument/2006/relationships/officeDocument" Target="/ppt/presentation.xml" Id="Rb7f75466f702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8806096b14580"/>
  </p:sldMasterIdLst>
  <p:notesMasterIdLst>
    <p:notesMasterId xmlns:r="http://schemas.openxmlformats.org/officeDocument/2006/relationships" r:id="R7ac3b6d27df84b80"/>
  </p:notesMasterIdLst>
  <p:sldIdLst>
    <p:sldId xmlns:r="http://schemas.openxmlformats.org/officeDocument/2006/relationships" id="256" r:id="R8f96f51f4c2d4dbb"/>
    <p:sldId xmlns:r="http://schemas.openxmlformats.org/officeDocument/2006/relationships" id="257" r:id="R487cec53e9e74209"/>
    <p:sldId xmlns:r="http://schemas.openxmlformats.org/officeDocument/2006/relationships" id="258" r:id="R15579986db4c4624"/>
    <p:sldId xmlns:r="http://schemas.openxmlformats.org/officeDocument/2006/relationships" id="259" r:id="R013069b36784495d"/>
    <p:sldId xmlns:r="http://schemas.openxmlformats.org/officeDocument/2006/relationships" id="260" r:id="R1e83975a66804e06"/>
    <p:sldId xmlns:r="http://schemas.openxmlformats.org/officeDocument/2006/relationships" id="261" r:id="Rb031112c9abc4a63"/>
    <p:sldId xmlns:r="http://schemas.openxmlformats.org/officeDocument/2006/relationships" id="262" r:id="R3cd18763e7df4629"/>
    <p:sldId xmlns:r="http://schemas.openxmlformats.org/officeDocument/2006/relationships" id="263" r:id="R26d3e24ec93144f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18c97eda044fe7" /><Relationship Type="http://schemas.openxmlformats.org/officeDocument/2006/relationships/slideMaster" Target="/ppt/slideMasters/slideMaster1.xml" Id="Rabb8806096b14580" /><Relationship Type="http://schemas.openxmlformats.org/officeDocument/2006/relationships/notesMaster" Target="/ppt/notesMasters/notesMaster1.xml" Id="R7ac3b6d27df84b80" /><Relationship Type="http://schemas.openxmlformats.org/officeDocument/2006/relationships/presProps" Target="/ppt/presProps.xml" Id="Rc04165cd050742c9" /><Relationship Type="http://schemas.openxmlformats.org/officeDocument/2006/relationships/tableStyles" Target="/ppt/tableStyles.xml" Id="R0b323e2b53774e26" /><Relationship Type="http://schemas.openxmlformats.org/officeDocument/2006/relationships/slide" Target="/ppt/slides/slide1.xml" Id="R8f96f51f4c2d4dbb" /><Relationship Type="http://schemas.openxmlformats.org/officeDocument/2006/relationships/slide" Target="/ppt/slides/slide2.xml" Id="R487cec53e9e74209" /><Relationship Type="http://schemas.openxmlformats.org/officeDocument/2006/relationships/slide" Target="/ppt/slides/slide3.xml" Id="R15579986db4c4624" /><Relationship Type="http://schemas.openxmlformats.org/officeDocument/2006/relationships/slide" Target="/ppt/slides/slide4.xml" Id="R013069b36784495d" /><Relationship Type="http://schemas.openxmlformats.org/officeDocument/2006/relationships/slide" Target="/ppt/slides/slide5.xml" Id="R1e83975a66804e06" /><Relationship Type="http://schemas.openxmlformats.org/officeDocument/2006/relationships/slide" Target="/ppt/slides/slide6.xml" Id="Rb031112c9abc4a63" /><Relationship Type="http://schemas.openxmlformats.org/officeDocument/2006/relationships/slide" Target="/ppt/slides/slide7.xml" Id="R3cd18763e7df4629" /><Relationship Type="http://schemas.openxmlformats.org/officeDocument/2006/relationships/slide" Target="/ppt/slides/slide8.xml" Id="R26d3e24ec931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9757341106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d86902f774c63" /><Relationship Type="http://schemas.openxmlformats.org/officeDocument/2006/relationships/notesMaster" Target="/ppt/notesMasters/notesMaster1.xml" Id="R6db4d41e7e1c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0c501bd634a51" /><Relationship Type="http://schemas.openxmlformats.org/officeDocument/2006/relationships/notesMaster" Target="/ppt/notesMasters/notesMaster1.xml" Id="Rbef433af7a394f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01c88a05ce4781" /><Relationship Type="http://schemas.openxmlformats.org/officeDocument/2006/relationships/notesMaster" Target="/ppt/notesMasters/notesMaster1.xml" Id="R702d77c8362e45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987da95d8c41d6" /><Relationship Type="http://schemas.openxmlformats.org/officeDocument/2006/relationships/notesMaster" Target="/ppt/notesMasters/notesMaster1.xml" Id="R41c7aaf690e7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b86b1e8b14dc9" /><Relationship Type="http://schemas.openxmlformats.org/officeDocument/2006/relationships/notesMaster" Target="/ppt/notesMasters/notesMaster1.xml" Id="R041c5601c40c43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404952e2d4b81" /><Relationship Type="http://schemas.openxmlformats.org/officeDocument/2006/relationships/notesMaster" Target="/ppt/notesMasters/notesMaster1.xml" Id="Ra70f8f649f36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17247db894eea" /><Relationship Type="http://schemas.openxmlformats.org/officeDocument/2006/relationships/notesMaster" Target="/ppt/notesMasters/notesMaster1.xml" Id="R7654f3e4e79245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f1d18867e04395" /><Relationship Type="http://schemas.openxmlformats.org/officeDocument/2006/relationships/notesMaster" Target="/ppt/notesMasters/notesMaster1.xml" Id="R1d1182924aff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Original PS title retained in substance. AIIA: All India Institute of Ayurveda. Team ID is unassigned in the source and has not been invented. ABS: access and benefit sharing.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Product Passport is a record, not an official certificate. ABS = access and benefit sharing. TK = traditional knowledge. General questions bypass product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Product and general-information paths are alternatives. Product assessment requires relevant confirmed facts. Every final response passes the evidence gate. Retrieval repair is limited to one attempt.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This is the proposed stack retained from the supplied deck, not a claim of implementation completeness. Qwen3-8B and BGE-M3 are candidates. Model and reranker choice depends on benchmark testing. https://arxiv.org/abs/2402.03216 https://github.com/AI4Bharat/IndicTrans2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These are proposed differentiators, not verified claims about all competing tools. Citation checks reduce risk but do not guarantee correctness. https://aclanthology.org/2023.emnlp-main.398/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30 reviewed cases and about 150 base cases are planned coverage. 95% citation support and 90% required-abstention recall are acceptance targets, not reported results. Source permissions and reviewer availability are prerequisites.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Expected benefits require pilot validation. No claims of measured savings, guaranteed compliance, patent grants or successful market entry. TK means traditional knowledge.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No wording, data or artwork copied from that reference. Sources carried forward from the user’s deck; this redesign is not a legal currency audit. Additional official destinations: https://www.ipindia.gov.in/ https://fssai.gov.in/ https://www.tkdl.res.in/ https://bhashini.gov.in/ . Research supports individual design choices, not a proven best complete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31120484746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1c91d44f84568" /><Relationship Type="http://schemas.openxmlformats.org/officeDocument/2006/relationships/slideLayout" Target="/ppt/slideLayouts/slideLayout1.xml" Id="Rb5dff95de8e2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ff95de8e2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475fbe2024d7c" /><Relationship Type="http://schemas.openxmlformats.org/officeDocument/2006/relationships/image" Target="/ppt/media/image.png" Id="R0c00aa45a75e428e" /><Relationship Type="http://schemas.openxmlformats.org/officeDocument/2006/relationships/notesSlide" Target="/ppt/notesSlides/notesSlide1.xml" Id="R516c9f8275fd4a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33e64a6a455c" /><Relationship Type="http://schemas.openxmlformats.org/officeDocument/2006/relationships/notesSlide" Target="/ppt/notesSlides/notesSlide2.xml" Id="Re0af03658eab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b6999697d4a15" /><Relationship Type="http://schemas.openxmlformats.org/officeDocument/2006/relationships/notesSlide" Target="/ppt/notesSlides/notesSlide3.xml" Id="R790b70a83afb46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740e6dee344f4" /><Relationship Type="http://schemas.openxmlformats.org/officeDocument/2006/relationships/notesSlide" Target="/ppt/notesSlides/notesSlide4.xml" Id="R09870023d96f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b33d46a764780" /><Relationship Type="http://schemas.openxmlformats.org/officeDocument/2006/relationships/notesSlide" Target="/ppt/notesSlides/notesSlide5.xml" Id="Rc52a43ee00bf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dfcc1c4b44eb5" /><Relationship Type="http://schemas.openxmlformats.org/officeDocument/2006/relationships/notesSlide" Target="/ppt/notesSlides/notesSlide6.xml" Id="R1738fc52f110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e785be6734435" /><Relationship Type="http://schemas.openxmlformats.org/officeDocument/2006/relationships/notesSlide" Target="/ppt/notesSlides/notesSlide7.xml" Id="R5db096c2bc274f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f46b8d49b406e" /><Relationship Type="http://schemas.openxmlformats.org/officeDocument/2006/relationships/hyperlink" Target="https://www.indiacode.nic.in/handle/123456789/1392" TargetMode="External" Id="Rc3aa4170869e4b5d" /><Relationship Type="http://schemas.openxmlformats.org/officeDocument/2006/relationships/hyperlink" Target="https://www.cdsco.gov.in/opencms/opencms/en/Traditional_Drugs/" TargetMode="External" Id="R8a3910c1e1c14111" /><Relationship Type="http://schemas.openxmlformats.org/officeDocument/2006/relationships/hyperlink" Target="https://nbaindia.nic.in/public-information/notification-guidelines" TargetMode="External" Id="R9c113717f93e476c" /><Relationship Type="http://schemas.openxmlformats.org/officeDocument/2006/relationships/hyperlink" Target="https://www.wipo.int/en/web/treaties/ip/gratk" TargetMode="External" Id="R479b76d670e5423e" /><Relationship Type="http://schemas.openxmlformats.org/officeDocument/2006/relationships/hyperlink" Target="https://aclanthology.org/2023.emnlp-main.398/" TargetMode="External" Id="Rc07c255d7a5e40f7" /><Relationship Type="http://schemas.openxmlformats.org/officeDocument/2006/relationships/hyperlink" Target="https://arxiv.org/abs/2408.10343" TargetMode="External" Id="Rb0d55dcf987a4af8" /><Relationship Type="http://schemas.openxmlformats.org/officeDocument/2006/relationships/hyperlink" Target="https://arxiv.org/abs/2402.03216" TargetMode="External" Id="R33bdae8eb79f4a40" /><Relationship Type="http://schemas.openxmlformats.org/officeDocument/2006/relationships/hyperlink" Target="https://arxiv.org/abs/2305.16307" TargetMode="External" Id="Ra8c9fa9d6848421d" /><Relationship Type="http://schemas.openxmlformats.org/officeDocument/2006/relationships/notesSlide" Target="/ppt/notesSlides/notesSlide8.xml" Id="R90fcdaf4067a49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15BD6-05C9-4768-B28F-FB71EE7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6832-E9AE-4F8A-A078-BEC73D2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IP-SAKTI SAHAYAK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0A21A-BA78-4A68-9452-6D53525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BFEB8-7156-470B-AAEB-3DB1F7B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98145-B716-4E38-B969-9C25CA5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904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Ayurveda innovation,</a:t>
            </a:r>
          </a:p>
          <a:p xmlns:a="http://schemas.openxmlformats.org/drawingml/2006/main">
            <a:pPr algn="l">
              <a:defRPr sz="42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with evidence 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8203F-DFE9-4D79-9BDA-C2E340E8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0325"/>
            <a:ext cx="885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 multilingual, source-cited AI assistant for intellectual property and regulatory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F2CE7-4AAE-4EF1-922F-E10EE5D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BCDCB-30F6-4E8D-A1A0-51081DC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SIH PROBLEM STATEMENT 26045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00050" y="4114800"/>
          <a:ext xmlns:a="http://schemas.openxmlformats.org/drawingml/2006/main" cx="8953500" cy="235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477000"/>
              </a:tblGrid>
              <a:tr h="470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SUBMISSION DETAILS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NAUT IQ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</a:tr>
              <a:tr h="470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Theme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MedTech / BioTech / HealthTech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Team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To be assigned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Ministry of Ayush / AIIA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76CDB-C20B-4752-A8BB-2C3A44E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33475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DFD6B-5B05-4442-B3E4-37D67CC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33475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25054-A828-48ED-A47D-BCCDD77D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2192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FACTS TO A CASE BRIEF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0aa45a75e428e"/>
          <a:stretch xmlns:a="http://schemas.openxmlformats.org/drawingml/2006/main"/>
        </p:blipFill>
        <p:spPr>
          <a:xfrm xmlns:a="http://schemas.openxmlformats.org/drawingml/2006/main">
            <a:off x="10819897" y="1714500"/>
            <a:ext cx="2820405" cy="3524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0477B-DBF2-4F71-AED1-ED50224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530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Regulation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D8770-3F96-4DBC-9D0F-B2CF2C09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530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Intellectual property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DDFAB-B7E1-4E35-A82B-220E584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769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Resource duties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C2C71-FEBD-457C-BFFA-01FED24F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769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Target markets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1AF11-CEC5-4EAB-8891-2CFC37F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43700"/>
            <a:ext cx="1443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383C2-423E-4EFE-B006-C9E7D698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29425"/>
            <a:ext cx="1413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D956B-1F0D-4D75-BDF4-B0F762A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01 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6E078-079A-4C69-86AE-2691F646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5335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General questions or a product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82F86-4A96-429D-9FB9-49D63C7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33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02  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A6D4E-6742-443D-8911-0E5B6BAE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75335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Separate regulation, IP and 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4FF96-C8B7-47B0-BE0E-8CD6BCB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33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03  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95C99-5771-45C5-8A38-6EA3DA56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75335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provisions and source 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A4F53-C9D0-4C6C-91CC-E97D035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33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04  Prepare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4EFB6-035E-40B0-8144-6D53C81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75335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 cited checklist for expert review</a:t>
            </a:r>
          </a:p>
        </p:txBody>
      </p:sp>
    </p:spTree>
    <p:extLst>
      <p:ext uri="{BB962C8B-B14F-4D97-AF65-F5344CB8AC3E}">
        <p14:creationId xmlns:p14="http://schemas.microsoft.com/office/powerpoint/2010/main" val="337259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EB2F4C-7B5A-4B58-95A6-51119BC4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31F18-B733-4ED3-B87A-53E9417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PROBLEM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145E8-EE53-41A6-A95F-143D6EB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7B23E-3A86-4908-AA3E-295695CE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170B9-A1FB-4102-8AB5-893DC63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8225"/>
            <a:ext cx="1447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One product brings several independent legal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173AE-5F56-4169-A1E3-E366A86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0"/>
            <a:ext cx="423862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49EBC-6E1D-4F6B-8935-FA5F855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0"/>
            <a:ext cx="423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13589-B4DE-47CF-B517-86133DA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0225"/>
            <a:ext cx="3933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USER’S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A87DB-AF37-42A4-BF5A-36D3B3C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33625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D74A7-BB6B-4BC8-BCE3-B266910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Product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D9F6B-F466-4D8F-84CE-6CC0899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67000"/>
            <a:ext cx="3267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Which product, claims and labelling rules apply?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8516C-E2A8-4753-939F-F6F681B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00400"/>
            <a:ext cx="389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B555E-E345-411F-A1E9-F1FB06E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76600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AE3F4-F814-43A1-B612-5DC33C3E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76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IP opportunities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60EA-9A69-4625-A815-78A8B32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09975"/>
            <a:ext cx="3267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Which rights and prior knowledge need consideration?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BC229-4537-4D79-8B89-2F3FD00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43375"/>
            <a:ext cx="389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BF4D4-4FB9-482E-98F1-225BC4FB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9575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7055D-309D-44C3-98BE-1FE2B26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19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Biological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25060-145D-4E34-8236-3DF8603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52950"/>
            <a:ext cx="3267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Which resource access and benefit-sharing duties arise?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8B1D0-52AB-4C2A-8542-B26C384A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86350"/>
            <a:ext cx="389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34B9B-A056-4264-9C70-2BD6A969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62550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E8BD8-8D34-45F8-ACF3-2BA70D96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162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Export market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E7F9A-DE9A-4F7A-B0B6-3FD78195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95925"/>
            <a:ext cx="3267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What changes under the target country’s requirements?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9675E-267C-4F48-B60E-E536BB4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71725"/>
            <a:ext cx="2762250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ACF0B-373B-415F-9CAE-F677D18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860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PASSPORT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7B026-B50B-4002-A163-2A89E39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24574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Intended use and claims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Ingredients and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 and modifications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Novelty and target market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D864F-16D8-462D-B63F-E8F298E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388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Only for product questions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8C3F9-2F14-4AAD-BDEA-7220446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6896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A9DC4-2EBB-48D3-BFAD-D18ED891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689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EE649-2791-4FBA-9180-70A2C7F9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0225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IP-SAKTI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C5A57-3D2B-4460-8C84-8D85A92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6A2D8-F8D0-427F-B0E6-EC121491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Ask relevant facts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7E525-4673-4AED-A616-CE726FA6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67000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Collect only information that can change the assessment.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788BB-4E54-40C7-8413-DD8312D4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6524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F64AD2-2C14-4600-99E7-7C39C49A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9EDF05-46DD-4EBF-AD5C-674511E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76600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Keep assessments separate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14BF8C-1BA8-46BF-A5A7-94914E2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09975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Evaluate regulation, IP and access &amp; benefit sharing independently.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6C7170-2FC3-4271-BA34-ACF25DC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6524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3EA914-0761-4290-9C8C-65E9BF3C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FDA3F-C0F8-48F0-928E-E65FFDA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19575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Retrieve the right provisions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9CFA3B-D929-4ABE-9846-46DD05E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52950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source dates. Keep India and export guidance distinct.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255D2E-23FF-45BD-AABB-BEC4CF0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86350"/>
            <a:ext cx="6524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32F3F7-C406-40C8-A0C3-E40488B8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BDCE2-578D-462C-ADA6-F06FB46D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62550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Verify before answering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B2CD8D-1F63-4058-8DAF-12F88AC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495925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claim support and show unresolved issues or human review.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EBBE70-B1A5-4C4E-AA70-22DA3D6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455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7E3877-4E75-43A9-B3BF-91334C6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424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OUTPUTS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52AA94-EF1B-4C01-8151-20F950AB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915150"/>
            <a:ext cx="291084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3346F3-92FA-4BD3-AFBA-87982C2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10565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58E735-42D6-471F-8A37-C4CF2420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" y="6915150"/>
            <a:ext cx="291084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8F1327-1914-42B0-92B7-00A77C2B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615" y="710565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IP strategy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2AE923-1060-4E85-8281-6C97EA3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6915150"/>
            <a:ext cx="291084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0173F-2D0F-4396-A6BD-3C53248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455" y="710565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ABS / TK</a:t>
            </a:r>
          </a:p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4B74C7-78E0-41F1-8CFB-112B05E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6915150"/>
            <a:ext cx="291084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21B98E-6014-430B-919C-9F8594D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295" y="710565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Market-specific</a:t>
            </a:r>
          </a:p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obligations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F8094C-7504-4A47-BBFC-D9213602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260" y="6915150"/>
            <a:ext cx="291084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1F54F9-C161-4B0D-824B-6E387E6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9135" y="710565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Provision-level</a:t>
            </a:r>
          </a:p>
          <a:p xmlns:a="http://schemas.openxmlformats.org/drawingml/2006/main">
            <a:pPr algn="ctr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citations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6E5713-E068-447D-BF84-6ABDFEBD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991475"/>
            <a:ext cx="1443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General information queries go directly to source-based guidance without a Product Passport.</a:t>
            </a:r>
          </a:p>
        </p:txBody>
      </p:sp>
    </p:spTree>
    <p:extLst>
      <p:ext uri="{BB962C8B-B14F-4D97-AF65-F5344CB8AC3E}">
        <p14:creationId xmlns:p14="http://schemas.microsoft.com/office/powerpoint/2010/main" val="2106685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BFF79C-365E-44F8-A016-AF2B8929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0564E-B3A7-429D-95D6-6D30B99A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94ECC-8705-4ED6-A3A5-E85B4B9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FB63-40DA-493A-84FC-9FBC1C2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2FDDF-E4DE-4230-8487-C7C7C14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8225"/>
            <a:ext cx="1447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Relevant facts first. Evidence checks before the final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16971-27BD-4CA2-8686-38A8E35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4524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9F12-4DD0-4374-8851-50D41190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EF953-DE5B-40BA-AC01-AE99E9C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219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Language, jurisdiction and as-of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41E4A-A852-4927-9553-30BD31C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81350"/>
            <a:ext cx="4524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1B7DF-C681-46FE-8EF0-ECEF5D7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GENERAL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C6FF0-6CEE-429A-B634-E8532B6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4219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Retrieve relevant sources without a Passport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F4252-DF81-4EC1-A6C8-58AE559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05350"/>
            <a:ext cx="4524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F37FF-F59A-4AF9-BD89-1611A30A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PRODUCT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68511-A5F0-4E00-8678-A0AF405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4219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Ask relevant facts and confirm extracted details</a:t>
            </a:r>
          </a:p>
        </p:txBody>
      </p: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624138" y="27432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cxnSp>
        <p:nvCxnSpPr>
          <p:cNvPr id="61" name=""/>
          <p:cNvCxnSpPr>
            <a:stCxn xmlns:a="http://schemas.openxmlformats.org/drawingml/2006/main" id="6" idx="1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33350" y="2214563"/>
            <a:ext cx="228600" cy="30289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5E87B-CB84-4F79-BB71-4E5C90F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46482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520DC-6B53-4278-870B-21AA19B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76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INDEPENDENT ASSESSMENTS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972C4-75C5-4627-88B8-EA2DAD9F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67275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Regulatory route</a:t>
            </a:r>
          </a:p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IP opportunities</a:t>
            </a:r>
          </a:p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ABS / traditional-knowledge duties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70663-9363-4138-8EEB-7298C91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85925"/>
            <a:ext cx="4648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AE512-9014-4507-B6EF-099EFE4B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02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OFFICIAL PROVISIONS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A4606-0CE1-4BED-AD98-9802DCC1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434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exact terms and meaning. Check effective dates, scope and exceptions.</a:t>
            </a:r>
          </a:p>
        </p:txBody>
      </p:sp>
      <p:cxnSp>
        <p:nvCxnSpPr>
          <p:cNvPr id="68" name=""/>
          <p:cNvCxnSpPr>
            <a:stCxn xmlns:a="http://schemas.openxmlformats.org/drawingml/2006/main" id="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4886325" y="2424113"/>
            <a:ext cx="428625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886325" y="5205413"/>
            <a:ext cx="42862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17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7639050" y="31623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61B3F-0FF9-47C1-A1EF-251FC8B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85925"/>
            <a:ext cx="44862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38CF0-D1CE-451B-ACB4-8764653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00225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EVIDENCE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65194-5103-49D7-9D3F-A3911A6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90750"/>
            <a:ext cx="4181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Does each material claim have sufficient support?</a:t>
            </a:r>
          </a:p>
        </p:txBody>
      </p:sp>
      <p:cxnSp>
        <p:nvCxnSpPr>
          <p:cNvPr id="74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963150" y="24241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207696-C3E3-4A81-AEB4-5A7472D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57600"/>
            <a:ext cx="44862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5A13E4-F460-4AD5-8395-3B53E5F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71900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CITED ACTION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EF714-FBD2-441A-8379-1F493EBF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62425"/>
            <a:ext cx="4181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Classification, next steps, forms, sources and unresolved questions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02A3F9-85FD-4C60-80E5-347581E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48300"/>
            <a:ext cx="44862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6606D-556E-4D42-9557-439E95A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562600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MISSING OR CONFLICTING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B4D2A-BE59-4183-BB81-D1FB933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53125"/>
            <a:ext cx="4181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One retrieval retry, then partial guidance or human review</a:t>
            </a:r>
          </a:p>
        </p:txBody>
      </p:sp>
      <p:cxnSp>
        <p:nvCxnSpPr>
          <p:cNvPr id="81" name=""/>
          <p:cNvCxnSpPr>
            <a:stCxn xmlns:a="http://schemas.openxmlformats.org/drawingml/2006/main" id="2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644438" y="31623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EA86A8-06D8-48BD-92A5-08E909A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670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cxnSp>
        <p:nvCxnSpPr>
          <p:cNvPr id="83" name=""/>
          <p:cNvCxnSpPr>
            <a:stCxn xmlns:a="http://schemas.openxmlformats.org/drawingml/2006/main" id="26" idx="3"/>
            <a:endCxn xmlns:a="http://schemas.openxmlformats.org/drawingml/2006/main" id="33" idx="3"/>
          </p:cNvCxnSpPr>
          <p:nvPr/>
        </p:nvCxnSpPr>
        <p:spPr>
          <a:xfrm xmlns:a="http://schemas.openxmlformats.org/drawingml/2006/main">
            <a:off x="14887575" y="2424113"/>
            <a:ext cx="228600" cy="36814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B2547E-510D-40F9-A672-FD1E141F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9587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Insufficient 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FA5DA8-62A5-4D3B-9115-5781AD5E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43650"/>
            <a:ext cx="96012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4F9B2A-CE2C-4ADD-936A-1FBDAC0B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43650"/>
            <a:ext cx="960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72C25B-F42D-4E08-B71C-B3A0147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929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FACTS THAT MAY CHANGE A PRODUCT ASSESSMENT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DA3561-0868-438A-8CDC-F06C2F98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962775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Intended use / claims</a:t>
            </a:r>
          </a:p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Ingredients / resource origin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5873B1-4E22-4E1B-8544-6F8DA3D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962775"/>
            <a:ext cx="4610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Formula / processing changes</a:t>
            </a:r>
          </a:p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Applicant / market / prior disclosure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92ADDC-56DE-4705-9764-F42E201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77075"/>
            <a:ext cx="44100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Unknown facts remain unresolved. A product category does not establish patentability or ABS clearance.</a:t>
            </a:r>
          </a:p>
        </p:txBody>
      </p:sp>
    </p:spTree>
    <p:extLst>
      <p:ext uri="{BB962C8B-B14F-4D97-AF65-F5344CB8AC3E}">
        <p14:creationId xmlns:p14="http://schemas.microsoft.com/office/powerpoint/2010/main" val="136447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5EA73-AFE6-43EB-9EF2-ABCD62B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05274-7EE0-464C-814D-B65D0EF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F3C49-4093-4319-BFCA-EC739CD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18184-5F66-4CDA-9CFE-BBDA85C6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8ECE9-8A53-4480-89F1-630A3CF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8225"/>
            <a:ext cx="1438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Proposed architecture and the role of each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4890B-156D-4C60-856B-28BFF2D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816E1-AEC9-4B5B-831B-CE09242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C437-981E-4F22-9927-400F082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933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Guided query and evidence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AF3D-B176-4309-941F-F230EEF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685925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B4B11-4452-4142-9C05-5DDE40CE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02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B  DOMAIN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5A906-50B2-4624-8F2F-5E50B78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90750"/>
            <a:ext cx="2933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Typed facts and reviewed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18E2A-5E91-4816-96F1-8BA2BE6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685925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0E541-C4AF-4319-A17E-3EB1106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002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 AI +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B5D65-BD18-4B7B-BD7D-5298CD52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90750"/>
            <a:ext cx="2933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Retrieval, synthesis and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E2FFB-0920-4CE6-896E-7A78E58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685925"/>
            <a:ext cx="3638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1CF2D-87BD-4CD4-8C54-14503EF3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8002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D 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1F245-2704-4400-9EEE-130F5C5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90750"/>
            <a:ext cx="333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Shared storage, access and audit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00450" y="22098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29475" y="2209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5B"/>
            </a:solidFill>
            <a:tailEnd type="triangle" w="med" len="med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361950" y="3028950"/>
          <a:ext xmlns:a="http://schemas.openxmlformats.org/drawingml/2006/main" cx="145351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4886325"/>
                <a:gridCol w="7381875"/>
              </a:tblGrid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DEFINED 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Experience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Next.js / TypeScript / Tailwind</a:t>
                      </a:r>
                    </a:p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BHASHINI adapter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Guided forms and evidence views. Hindi text first, then validated voice.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Domain rules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FastAPI / Pydantic</a:t>
                      </a:r>
                    </a:p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Versioned decision tables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Validate confirmed facts. Assess regulation, IP and ABS separately.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Retrieval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PostgreSQL FTS / pgvector</a:t>
                      </a:r>
                    </a:p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BGE-M3 embeddings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Combine exact terms with semantic retrieval. Preserve provision versions.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Answer checks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Qwen3-8B candidate</a:t>
                      </a:r>
                    </a:p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Typed verification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Return structured claims with evidence IDs. Select models by evaluation.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Platform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Docker Compose / object storage</a:t>
                      </a:r>
                    </a:p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Role-based access / audit logs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Start with one backend and worker. Keep private cases outside the legal corpus.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9657C-7B53-407B-B0E2-A776136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72350"/>
            <a:ext cx="14535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44543-2346-493C-A8C3-A047A25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72350"/>
            <a:ext cx="1453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56975-DDEA-4A5F-A2D8-67CB3A1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58075"/>
            <a:ext cx="1423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8F23F-3C88-439A-AECB-E1C935A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867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Add a graph database or extra agents only when evaluation demonstrates a benefit.</a:t>
            </a:r>
          </a:p>
        </p:txBody>
      </p:sp>
    </p:spTree>
    <p:extLst>
      <p:ext uri="{BB962C8B-B14F-4D97-AF65-F5344CB8AC3E}">
        <p14:creationId xmlns:p14="http://schemas.microsoft.com/office/powerpoint/2010/main" val="2009228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F322E-167E-445A-ADA2-9B4E613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9A391-1571-4F3A-8A88-55C0B606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KEY FEATURES AND INNOVATION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4A276-F023-4F1E-BCA4-F5D2796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ADB19-1A93-4616-BBE2-38A6216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ADF34-8702-4139-9CB0-039B1363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8225"/>
            <a:ext cx="1438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 reviewable case file, with the reasoning and gaps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79818-7B31-41EA-8C5C-77D9EEA3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04975"/>
            <a:ext cx="742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E65B3-5484-428A-9088-BC5E91A8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38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F945C-7C15-494C-8DFE-1FF7F12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Relevant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D58B2-AF1F-461A-AB39-26AB93B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98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General queries bypass the Passport. Product cases ask only for facts that affect the assessment.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1E1ED-53D3-46A7-8B5F-F5A5F56E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04975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9D2C9-E964-4A59-99AE-A3D6EBC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VISIBLE IN THE CASE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BC9FC-3E79-4A9E-B5BD-A6EA19A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528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User sees why a detail is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7F1CD-8546-4FE0-9DA3-F1D45BD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742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7F404-01AA-4F3E-9F64-983F0CD5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438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710EA-CAC5-4968-85D4-33B1CC6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Separate legal assessments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9C68F-2B01-43D5-BBEB-E94416D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Regulation, IP and ABS each retain their own conditions, evidence and unresolved facts.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A28B2-EACD-45F7-A9A2-E55A5B0A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9E653-F998-42C8-A56A-B595142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52800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VISIBLE IN THE CASE 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DBF52-DA3F-42B6-8D74-0AD2ACF0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62375"/>
            <a:ext cx="528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One route never implies another clearance.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1A97F-4CF3-4828-9975-313ADD6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95825"/>
            <a:ext cx="742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BFBE3-BD61-40B7-A5B9-D2C9033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438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A85A4-A3A5-43AC-8BDA-2FAA9231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Inspectable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C8AF2-B3CC-4304-BA07-8E040DC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Material claims link to the exact provision and source version, with dates and jurisdiction checked.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0C3CB-2922-47BB-9722-E657F17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95825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D8DA8-5798-4089-B9FD-A300389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48225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VISIBLE IN THE CASE 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E9777-76BE-46A9-BC35-4E6C1F6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57800"/>
            <a:ext cx="528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The user can inspect the supporting passage.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D9EB4-0551-4106-97D8-65D2829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91250"/>
            <a:ext cx="742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64595-BB67-40BF-9CD6-789D8337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6975"/>
            <a:ext cx="438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0E414-C313-44CC-9F40-361849D9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4840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 path through uncertainty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DB581-6692-488A-8E3A-D3AEEF81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696075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Unsupported sections trigger clarification or review. The case preserves known facts and open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FCD4B-FC18-42A1-B8A2-88C2A4ED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191250"/>
            <a:ext cx="581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88B85-CB31-4522-942C-BD0D974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343650"/>
            <a:ext cx="534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VISIBLE IN THE CASE 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53F55-4514-412C-B6CF-8629D7F7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53225"/>
            <a:ext cx="528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Partial guidance shows its limits clearly.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971AEE-34A8-4E7B-839F-7773260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020050"/>
            <a:ext cx="1447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Information and preparation support. Qualified experts remain responsible for legal decisions.</a:t>
            </a:r>
          </a:p>
        </p:txBody>
      </p:sp>
    </p:spTree>
    <p:extLst>
      <p:ext uri="{BB962C8B-B14F-4D97-AF65-F5344CB8AC3E}">
        <p14:creationId xmlns:p14="http://schemas.microsoft.com/office/powerpoint/2010/main" val="583794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06B8C5-16C5-41F0-9D1B-B0B4507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E9B96-F763-40BA-90A4-F3F58721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64521-A924-45C6-A738-889098AE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19023-39E5-4D61-B2F1-981C479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3C56A-AC21-4738-B515-534E9585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95375"/>
            <a:ext cx="6924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D9919-97DC-4088-8A3D-DBD11F1D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95375"/>
            <a:ext cx="6924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A5D68-A8B3-4ABA-8648-51D4D27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661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AND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9521F-C398-4DD2-9F19-CEAFF57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01  Reviewed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54334-740C-4C77-9908-9BC60FD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Official provisions, versioned rules and 30 expert-reviewed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BB6B6-FE15-4790-8092-9543341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64579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BACD7-521F-467B-8881-C57B0B23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02  Working demonstrator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8214C-EF32-4F98-A825-32D7113A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Two product journeys, general queries and verifiable citations.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B2FA0-D9D2-42D3-AE14-ADB55EF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64579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4D36C-E4EE-443C-A55C-0B56C7CB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03  Tested 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E99FC-804C-48F6-A6C3-C6A0B66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About 150 base cases, then Hindi and one export market.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82D20-A730-4132-8090-7F0B4C86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095375"/>
            <a:ext cx="7305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14DA3-63BF-4C32-A606-D3FDDFB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095375"/>
            <a:ext cx="7305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05A76-4F27-4728-82DA-2391C206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181100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PRACTICAL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C865C-3F41-41D3-B9DD-7FD1492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526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Changing law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027BB-D350-4275-8867-E93FC2B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027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Curator approval, effective dates and regression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92267-100F-4EAA-A0B4-224C39E7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432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8D4DC-0463-48A2-B90D-5EDE2F6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860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Incomplete or incorrect answers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E613E-1342-4883-B4B9-726148D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3375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Claim checks, one repair attempt and human review.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AF273-7BFC-4046-BCD5-C3AF767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76675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F3373-B149-4660-B5BD-B6ED6C6D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195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Confidential product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5937B-DD54-4F4C-87E9-0D45C53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672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Minimum data collection, scoped access and redacted logs.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9DADB-BDA3-4279-851D-A04CF35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467350"/>
            <a:ext cx="1453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BDCB2-30C0-4267-AA91-AB4505F9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4230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ACCEPTANCE TARGETS (AWAITING VALIDATION)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7E2726-E62E-41D5-93E4-5C018F7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055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D463E-5FCA-4A5E-AFC4-DEA53F2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191250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Citation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DC01B-41F4-44EF-9362-2924BC3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6389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whether the cited evidence</a:t>
            </a:r>
          </a:p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supports the material claim.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B4AC9-D7AC-496E-9586-9F0A6A2A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1055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DB0EE-7FC7-4EAF-AFDE-D2825DE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1912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Required-abstention recall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9A4DE-7837-4020-BB5A-504F2014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638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whether cases needing abstention</a:t>
            </a:r>
          </a:p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are correctly flagged.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086B7-05DF-4F47-8A20-F353052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524750"/>
            <a:ext cx="14535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9EB13-1D06-496A-A0C2-3EE9927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24775"/>
            <a:ext cx="2400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90F17-F57E-40A3-8E0C-FBA43DF7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724775"/>
            <a:ext cx="1173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Qualified reviewers and permitted source access are prerequisites. Targets require testing before release.</a:t>
            </a:r>
          </a:p>
        </p:txBody>
      </p:sp>
    </p:spTree>
    <p:extLst>
      <p:ext uri="{BB962C8B-B14F-4D97-AF65-F5344CB8AC3E}">
        <p14:creationId xmlns:p14="http://schemas.microsoft.com/office/powerpoint/2010/main" val="465937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5E996-FF51-4857-8815-8945E3B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D3719-1BFA-44A7-A52D-D074729A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F2284-7F21-492B-A619-9DA43BF2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93124-9CB8-49D3-851F-0D4DE60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BF008-84FF-4490-937D-6C6F8538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38225"/>
            <a:ext cx="1438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Expected benefits for the Ayurveda community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61950" y="1714500"/>
          <a:ext xmlns:a="http://schemas.openxmlformats.org/drawingml/2006/main" cx="145351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105525"/>
                <a:gridCol w="5381625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BENEFICIARY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BENEFIT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DELIVERABLE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T w="9525">
                      <a:solidFill>
                        <a:srgbClr val="12365B"/>
                      </a:solidFill>
                      <a:prstDash val="solid"/>
                    </a:lnT>
                    <a:solidFill>
                      <a:srgbClr val="12365B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Startups and MSMEs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Clearer next steps before spending on filings, licences or export preparation.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A preparation checklist with obligations and open questions.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Practitioners and researchers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Plain-language explanations that can be inspected and discussed with experts.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Source-linked guidance with facts and provision references.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Cultivators and TK holders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Earlier visibility of resource-origin and benefit-sharing questions.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A sourcing record and unresolved biodiversity checkpoints.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IP facilitators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12365B"/>
                      </a:solidFill>
                      <a:prstDash val="solid"/>
                    </a:lnL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A structured case instead of an unorganised conversation.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365B"/>
                          </a:solidFill>
                          <a:latin typeface="Arial"/>
                          <a:ea typeface="Arial"/>
                          <a:cs typeface="Arial"/>
                        </a:rPr>
                        <a:t>Confirmed facts, evidence and issues ready for professional review.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12365B"/>
                      </a:solidFill>
                      <a:prstDash val="solid"/>
                    </a:lnR>
                    <a:lnB w="9525">
                      <a:solidFill>
                        <a:srgbClr val="12365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14FFC-05D1-4EFC-95DE-0474F0A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48375"/>
            <a:ext cx="1453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05BC1-E5EB-43D9-9778-13EAE56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4100"/>
            <a:ext cx="1423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THE PILOT WILL ASSESS BENEFIT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E61A4-48ED-4AD4-B3E6-D8C606EA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Guidance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16735-7977-4FB2-A2AD-C812863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Expert review of correctness, citation support and uncertainty handling.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21EF6-C84F-4F6F-B1D9-34667FA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Review 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5A07D-206F-40BB-BDF3-5705D47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Compare the work needed to prepare and review a structured 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8B241-F05E-4A3A-A432-CA8CBB9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Language accessibility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3313B-A80A-4C43-8FA1-08FFB2BD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Check comprehension and usability across English and Hindi journeys.</a:t>
            </a:r>
          </a:p>
        </p:txBody>
      </p:sp>
    </p:spTree>
    <p:extLst>
      <p:ext uri="{BB962C8B-B14F-4D97-AF65-F5344CB8AC3E}">
        <p14:creationId xmlns:p14="http://schemas.microsoft.com/office/powerpoint/2010/main" val="530370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7737C8-607A-4B5A-A604-23AB0BF5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C27D6-6D15-45E7-842A-DF4E9496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7D307-86B7-446C-9153-462480E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095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r">
              <a:defRPr sz="165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6EE2-5236-4525-B590-07BE5B9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63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3B94C-D09E-4321-A70A-8A392FD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710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2F3E-0CFC-43FB-B244-8F64C1A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OFFICIAL SOURCES FOR THE PROPOSED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411E-D361-4A7A-8166-B0D57D62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33475"/>
            <a:ext cx="712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E803-D58A-41B4-AA67-4557020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19200"/>
            <a:ext cx="681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SUPPORTING THE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FF2D1-085A-43F6-988B-47D0C9C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9070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DD8F1-4C1A-43DC-A418-5D8750F1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India Code and IP India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AC757-DEF4-4B21-ABD8-709D6F4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288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Patents Act, rules and amendments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BCA24-3CB6-4890-80A1-C46F3949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03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c3aa4170869e4b5d"/>
              </a:rPr>
              <a:t>indiacode.nic.in / ipindia.gov.in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A1CC5-99AD-4C67-8902-3295039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28950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E1E6B-12BA-4952-9BFF-3279E4F9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7182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E2700-C203-4323-A177-D65857F9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7182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CDSCO and FSSAI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CA043-A976-4B4A-AE8D-A98D41E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099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Product definitions and Ayurveda Aahara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96ABA-130F-4231-8499-F53E2A3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8a3910c1e1c14111"/>
              </a:rPr>
              <a:t>cdsco.gov.in / fssai.gov.in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EF84B-2A09-4992-BD55-B5F82E08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10075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55A9F-DAE7-4508-94A1-819611E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A5D22-74FF-46E0-8140-6513E870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5295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National Biodiversity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93941-D111-4839-A118-FD97235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911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Biodiversity framework and ABS regulations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A8D2D-FEE1-4611-9E10-1BD6B6FD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625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9c113717f93e476c"/>
              </a:rPr>
              <a:t>nbaindia.nic.in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5145E-E23A-4901-9CE7-F6E1CC6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91200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969FF-C51A-4E59-A522-D5A3409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3407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F7297-39B8-4ADE-B3A8-29B5382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WIPO and TKDL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F81B2-43C4-40B4-89B6-7F3B04C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722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Treaty resources and traditional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A801D-A790-4CC7-95DE-E1DB9BD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7437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479b76d670e5423e"/>
              </a:rPr>
              <a:t>wipo.int / tkdl.res.in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11D7C-BB3E-4FFD-8234-D974286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172325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F9EFD-99F4-4799-8190-7FEEA1FB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70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DA301-3AC3-4434-B040-9D273900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9070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ALCE, Gao et al. (2023)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F7634-BAAB-4D0A-8041-EF78AE9C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Answer generation with supporting citations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74D62F-FE41-4D25-AD38-B7F56BF5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003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c07c255d7a5e40f7"/>
              </a:rPr>
              <a:t>aclanthology.org/2023.emnlp-main.398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322A13-9CA0-4481-A732-278F86FE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D1CDD8-572B-4F93-AC94-9FD0A7D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B2BC3-2D0F-4181-BA86-22526B9E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7182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LegalBench-RAG (2024)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775E8-FE6B-4A68-97FB-FE41BF1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099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Evaluation of precise legal retrieval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BB2E6-29CE-4CE3-AC61-B144F35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814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b0d55dcf987a4af8"/>
              </a:rPr>
              <a:t>arxiv.org/abs/2408.10343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08643E-0BEE-4D5D-9A7C-F33CC97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355EAC-50C7-457B-BE1E-31ECCDB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5295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59E521-2570-4498-94FE-0DE0233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5295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BGE-M3 (2024)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73C775-EE82-4CC5-9E8F-F0434CA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911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Multilingual text embeddings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E6DCF-B0CC-4DE3-A589-9D6A23D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625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33bdae8eb79f4a40"/>
              </a:rPr>
              <a:t>arxiv.org/abs/2402.03216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F45C08-9520-46D6-985D-059E1B11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91200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AF7CDF-A262-463B-9FF8-643BB11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93407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6B803-8E38-4F0E-AF5A-07FEFDB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93407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5B"/>
                </a:solidFill>
                <a:latin typeface="Arial"/>
                <a:ea typeface="Arial"/>
                <a:cs typeface="Arial"/>
              </a:rPr>
              <a:t>IndicTrans2, Gala et al. (2023)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21FA23-C9C3-45B6-B534-4CFC93C1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3722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Translation across Indian languages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11D7FF-6173-4B80-9753-830D2C6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7437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365B"/>
                </a:solidFill>
                <a:latin typeface="Arial"/>
                <a:ea typeface="Arial"/>
                <a:cs typeface="Arial"/>
                <a:hlinkClick xmlns:r="http://schemas.openxmlformats.org/officeDocument/2006/relationships" r:id="Ra8c9fa9d6848421d"/>
              </a:rPr>
              <a:t>arxiv.org/abs/2305.16307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060DF-5DB4-466A-981B-1666B13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72325"/>
            <a:ext cx="7105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0A1025-FB62-4F61-858B-C6AFA00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505700"/>
            <a:ext cx="14535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CF43F9-8922-4D24-B851-E5CF67B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505700"/>
            <a:ext cx="1453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B"/>
          </a:solidFill>
          <a:ln xmlns:a="http://schemas.openxmlformats.org/drawingml/2006/main" w="14288">
            <a:solidFill>
              <a:srgbClr val="12365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36E140-9F96-4350-B891-EC65B637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1425"/>
            <a:ext cx="1423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HANDLING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8A5133-F98D-49E3-8749-30DE5866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0"/>
            <a:ext cx="1409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365B"/>
                </a:solidFill>
                <a:latin typeface="Arial"/>
                <a:ea typeface="Arial"/>
                <a:cs typeface="Arial"/>
              </a:rPr>
              <a:t>Retain provision versions and effective dates. Review access permissions before ingestion.</a:t>
            </a:r>
          </a:p>
        </p:txBody>
      </p:sp>
    </p:spTree>
    <p:extLst>
      <p:ext uri="{BB962C8B-B14F-4D97-AF65-F5344CB8AC3E}">
        <p14:creationId xmlns:p14="http://schemas.microsoft.com/office/powerpoint/2010/main" val="1122834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2026-09-24T18:15:24.9700000Z</dcterms:created>
  <dcterms:modified xsi:type="dcterms:W3CDTF">2026-09-24T18:15:24.9700000Z</dcterms:modified>
</coreProperties>
</file>