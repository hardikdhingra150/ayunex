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fbd79ecf8b4745" /><Relationship Type="http://schemas.openxmlformats.org/officeDocument/2006/relationships/extended-properties" Target="/docProps/app.xml" Id="R94bb65510846494e" /><Relationship Type="http://schemas.openxmlformats.org/officeDocument/2006/relationships/officeDocument" Target="/ppt/presentation.xml" Id="Ra99ca67b8aa046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bfbed9a7f451a"/>
  </p:sldMasterIdLst>
  <p:notesMasterIdLst>
    <p:notesMasterId xmlns:r="http://schemas.openxmlformats.org/officeDocument/2006/relationships" r:id="Rcd1174496e174a3d"/>
  </p:notesMasterIdLst>
  <p:sldIdLst>
    <p:sldId xmlns:r="http://schemas.openxmlformats.org/officeDocument/2006/relationships" id="256" r:id="R89115d8d89df4194"/>
    <p:sldId xmlns:r="http://schemas.openxmlformats.org/officeDocument/2006/relationships" id="257" r:id="R318f8bc0a7114931"/>
    <p:sldId xmlns:r="http://schemas.openxmlformats.org/officeDocument/2006/relationships" id="258" r:id="R36f41b8475134070"/>
    <p:sldId xmlns:r="http://schemas.openxmlformats.org/officeDocument/2006/relationships" id="259" r:id="Rfd25073a500f4dc1"/>
    <p:sldId xmlns:r="http://schemas.openxmlformats.org/officeDocument/2006/relationships" id="260" r:id="Rf23a85493d1e4367"/>
    <p:sldId xmlns:r="http://schemas.openxmlformats.org/officeDocument/2006/relationships" id="261" r:id="R6cefbd2f02954fbb"/>
    <p:sldId xmlns:r="http://schemas.openxmlformats.org/officeDocument/2006/relationships" id="262" r:id="R92031c17fe1d4de1"/>
    <p:sldId xmlns:r="http://schemas.openxmlformats.org/officeDocument/2006/relationships" id="263" r:id="Rec971f5b0ab441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9e900967b744ff" /><Relationship Type="http://schemas.openxmlformats.org/officeDocument/2006/relationships/slideMaster" Target="/ppt/slideMasters/slideMaster1.xml" Id="Rbd1bfbed9a7f451a" /><Relationship Type="http://schemas.openxmlformats.org/officeDocument/2006/relationships/notesMaster" Target="/ppt/notesMasters/notesMaster1.xml" Id="Rcd1174496e174a3d" /><Relationship Type="http://schemas.openxmlformats.org/officeDocument/2006/relationships/presProps" Target="/ppt/presProps.xml" Id="R50f96657475d48a8" /><Relationship Type="http://schemas.openxmlformats.org/officeDocument/2006/relationships/viewProps" Target="/ppt/viewProps.xml" Id="R82315ed204ef489a" /><Relationship Type="http://schemas.openxmlformats.org/officeDocument/2006/relationships/tableStyles" Target="/ppt/tableStyles.xml" Id="Ra06fdc3224994d72" /><Relationship Type="http://schemas.openxmlformats.org/officeDocument/2006/relationships/slide" Target="/ppt/slides/slide1.xml" Id="R89115d8d89df4194" /><Relationship Type="http://schemas.openxmlformats.org/officeDocument/2006/relationships/slide" Target="/ppt/slides/slide2.xml" Id="R318f8bc0a7114931" /><Relationship Type="http://schemas.openxmlformats.org/officeDocument/2006/relationships/slide" Target="/ppt/slides/slide3.xml" Id="R36f41b8475134070" /><Relationship Type="http://schemas.openxmlformats.org/officeDocument/2006/relationships/slide" Target="/ppt/slides/slide4.xml" Id="Rfd25073a500f4dc1" /><Relationship Type="http://schemas.openxmlformats.org/officeDocument/2006/relationships/slide" Target="/ppt/slides/slide5.xml" Id="Rf23a85493d1e4367" /><Relationship Type="http://schemas.openxmlformats.org/officeDocument/2006/relationships/slide" Target="/ppt/slides/slide6.xml" Id="R6cefbd2f02954fbb" /><Relationship Type="http://schemas.openxmlformats.org/officeDocument/2006/relationships/slide" Target="/ppt/slides/slide7.xml" Id="R92031c17fe1d4de1" /><Relationship Type="http://schemas.openxmlformats.org/officeDocument/2006/relationships/slide" Target="/ppt/slides/slide8.xml" Id="Rec971f5b0ab441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e9bd41d15c43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96ffd2bf0045b0" /><Relationship Type="http://schemas.openxmlformats.org/officeDocument/2006/relationships/notesMaster" Target="/ppt/notesMasters/notesMaster1.xml" Id="Rca2388a6d36e45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f725e2060241c1" /><Relationship Type="http://schemas.openxmlformats.org/officeDocument/2006/relationships/notesMaster" Target="/ppt/notesMasters/notesMaster1.xml" Id="Rec4895cd62654d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a7969b7abf428a" /><Relationship Type="http://schemas.openxmlformats.org/officeDocument/2006/relationships/notesMaster" Target="/ppt/notesMasters/notesMaster1.xml" Id="Re5ad453528f74a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c0836ed12e48c9" /><Relationship Type="http://schemas.openxmlformats.org/officeDocument/2006/relationships/notesMaster" Target="/ppt/notesMasters/notesMaster1.xml" Id="Rb6e258726b7d4a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241f99247e41ac" /><Relationship Type="http://schemas.openxmlformats.org/officeDocument/2006/relationships/notesMaster" Target="/ppt/notesMasters/notesMaster1.xml" Id="Rcc52f48d1ac14e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b1ff0beb144367" /><Relationship Type="http://schemas.openxmlformats.org/officeDocument/2006/relationships/notesMaster" Target="/ppt/notesMasters/notesMaster1.xml" Id="R8c7281ed9daf4a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153d4867684065" /><Relationship Type="http://schemas.openxmlformats.org/officeDocument/2006/relationships/notesMaster" Target="/ppt/notesMasters/notesMaster1.xml" Id="R46cc2260242248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6f535e76e94e8b" /><Relationship Type="http://schemas.openxmlformats.org/officeDocument/2006/relationships/notesMaster" Target="/ppt/notesMasters/notesMaster1.xml" Id="Rf65873de95764e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statement ID 26045 supplied by the user.</a:t>
            </a:r>
          </a:p>
          <a:p xmlns:a="http://schemas.openxmlformats.org/drawingml/2006/main">
            <a:r>
              <a:t>Official SIH 2026 template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Problem and required solution capabilities are derived from problem statement ID 26045 supplied by the user.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India Code — Patents Act, 1970: https://www.indiacode.nic.in/handle/123456789/1392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National Biodiversity Authority: https://nbaindia.org/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FSSAI Ayurveda Aahara Regulations, 2022: https://fssai.gov.in/upload/notifications/2022/05/62789a20b54bdGazette_Notification_Ayurveda_Aahara_09_05_2022.pdf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WIPO GRATK Treaty: https://www.wipo.int/en/web/treaties/ip/gratk/index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Workflow is Naut IQ’s proposed implementation of problem statement ID 26045.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supplied flowchart image was used only as a structural reference for a start node, decision point and branching paths; no content was copied.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FSSAI Ayurveda Aahara Regulations: https://fssai.gov.in/upload/notifications/2022/05/62789a20b54bdGazette_Notification_Ayurveda_Aahara_09_05_2022.pdf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Ministry of AYUSH — Drugs and Cosmetics Act/Rules: https://ayush.gov.in/resources/pdf/quality_standards/Drugs-and-Cosmetics-Act-Rules.pdf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Technology choices and architecture are Naut IQ’s proposed implementation.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BHASHINI: https://bhashini.gov.in/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Llama 3.1, BGE-M3, Next.js, TailwindCSS, FastAPI, Pydantic, LangGraph, PostgreSQL, pgvector, Neo4j, MinIO, Redis and Docker are proposed open-source or self-hostable components; product names are used descriptively.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Prototype journey and innovations are Naut IQ’s proposed implementation of problem statement ID 26045.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Jurisdiction separation, mandatory citations, confidence, multilingual delivery, safe abstention and human escalation are required by the supplied problem statement.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Feasibility evidence, scope and delivery plan are Naut IQ’s proposed implementation.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India Code: https://www.indiacode.nic.in/handle/123456789/1392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IP India: https://www.ipindia.gov.in/resource/patents-resources-rules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National Biodiversity Authority: https://nbaindia.org/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FSSAI Ayurveda Aahara Regulations: https://fssai.gov.in/upload/notifications/2022/05/62789a20b54bdGazette_Notification_Ayurveda_Aahara_09_05_2022.pdf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WIPO GRATK Treaty: https://www.wipo.int/en/web/treaties/ip/gratk/index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BHASHINI: https://bhashini.gov.in/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Stakeholders are taken from problem statement ID 26045 supplied by the user.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Impact pathway and pilot metrics are Naut IQ’s proposed outcomes and acceptance targets; they are not claimed measured production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India Code — Patents Act, 1970: https://www.indiacode.nic.in/handle/123456789/1392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IP India — Patent Rules and amendments: https://www.ipindia.gov.in/resource/patents-resources-rules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National Biodiversity Authority: https://nbaindia.org/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FSSAI — Ayurveda Aahara Regulations, 2022: https://fssai.gov.in/upload/notifications/2022/05/62789a20b54bdGazette_Notification_Ayurveda_Aahara_09_05_2022.pdf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Ministry of AYUSH — Drugs and Cosmetics Act/Rules: https://ayush.gov.in/resources/pdf/quality_standards/Drugs-and-Cosmetics-Act-Rules.pdf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CSIR-TKDL: https://www.tkdl.res.in/tkdl/langdefault/common/Abouttkdl.asp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WIPO GRATK Treaty: https://www.wipo.int/en/web/treaties/ip/gratk/index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WIPO Lex treaty status: https://www.wipo.int/wipolex/en/treaties/ShowResults?search_what=N&amp;treaty_id=19830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BHASHINI: https://bhashini.gov.in/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75ada52a543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561f57e2441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194c325654e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bc47d5c524c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45de0c99742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b80d45908485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3df7022ab416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9c0106acf454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9b3b400e5455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85ee768db4c9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c5bf5238d4ca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FE8CDC-F691-4D89-8088-F6A32BE5DC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08E691-B89E-4ACC-B276-44CD424C2E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D33510-9328-4A4E-9496-1A6B995732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D22CA9-91EE-4660-85AA-5C7D8F18BB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6B9D0-AAA6-4796-A2B4-4D26DF0385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60DFCC-73FB-4E44-BFC4-57941B53CF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F19374A-0B06-4CB5-9C56-6C6DB5CC59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70015E-3EB3-4295-9022-6881F0397E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57641E-5474-4E45-BC48-A60EBE8F1C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D31CA8-A2D8-4534-BA1F-787019F118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3962CB-0D86-4094-9328-E57F1490F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DA3D01-F84C-4B54-B41C-D14486F342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299FCE-6586-4DA4-962D-E598CC4559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2F4A02-3E23-470B-B5E9-27956CFE1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5FEEE9-6CC6-4BD8-BFF5-96F09F5B4B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0842C8-6720-40F7-9586-9E2ED4178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274C54-2F9F-4B06-BC3D-4B97E0A2D4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4ABE365-9DF5-48C1-9B7F-84631C6BF3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824CC3-4FE7-48F3-8E1D-D72633B93B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5EA3D7-BEF0-4102-8CF0-35D885F20B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A3B6AC-315A-4127-B974-D6B2C5D7A2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18AAC7-4C12-4078-A6F0-79E876EF1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E9C0F7-9939-4D60-BD51-92056BB330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E385A11-0B2A-47F8-BEFE-29BFA5865C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0D4EF82-9438-4E22-9333-6D02B56F976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DFF0C4A-64CB-4EBC-8F67-9DA21A2CEF2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68F347-A652-4BD2-A519-8D7D026008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AAA0B0-A0C5-4701-A600-D167478864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3FB0EA-E310-40D8-A2E2-0187726477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23E3CB-AD9A-47FB-837F-4CDA2A915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C23521-AD73-4EEF-A870-9AB4DB14C0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CD0B3D-A760-4462-AE2E-28890AB7C6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738A9A-3E13-46E8-988F-802C22FE1F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947298-A4A2-4D6E-9578-46732CD91A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BF9842-0210-4E7A-87E9-EEE1A2B0C2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22858F-C585-4254-A248-1D4D5F6E14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76069D-97FF-4B61-A9B3-36C9E4258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EF4FDD-351F-4764-9520-9DC9E4AB2D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D9BC486-F88C-40F0-987B-05A20F64D3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F03E8C-628D-4E35-B6B0-7807BFC274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3283C7-2363-4266-869E-06CBDB2B90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A64ECE-D769-4AF0-A755-B57004D876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D15765-39F0-4536-81C2-F068C6B3A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042C7E8-BA76-4414-B2DC-FCC8C445526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BBE40A0-2E91-4784-90FD-483E099084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DB49E7-5513-4F52-B538-62DF812F71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4A8D4A-81D3-4870-B001-D4444AB909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24F9B4-31A7-4A8F-A0D6-14B4ED8040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DFD13A-908E-4E22-827F-4F08DE7FC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2F1359-42F8-46FC-9115-AD2581F46E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C255AA-73D3-4EF3-A7E0-1596B5ECDF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08BECD-D06C-4577-AB81-B3934EB232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4B84A0-0F68-419D-A765-7E6D1C2C01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D9F0A4F-0D39-4591-A9CB-C9C250287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409032-A6E0-4425-A45C-83A0E4C224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6FB656-299E-4CFA-9333-6069A4CF3B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7BF5A2-1AB2-4B4E-8EB8-189B4DCECD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6282F3-AF6A-4EC0-A2EE-51D12F6AB0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52518d4b584fea" /><Relationship Type="http://schemas.openxmlformats.org/officeDocument/2006/relationships/slideLayout" Target="/ppt/slideLayouts/slideLayout1.xml" Id="Re810db33a0d4484c" /><Relationship Type="http://schemas.openxmlformats.org/officeDocument/2006/relationships/slideLayout" Target="/ppt/slideLayouts/slideLayout2.xml" Id="R614b2c8bffb740ea" /><Relationship Type="http://schemas.openxmlformats.org/officeDocument/2006/relationships/slideLayout" Target="/ppt/slideLayouts/slideLayout3.xml" Id="R79ee2193d52949c5" /><Relationship Type="http://schemas.openxmlformats.org/officeDocument/2006/relationships/slideLayout" Target="/ppt/slideLayouts/slideLayout4.xml" Id="R5840ce17d8fc4151" /><Relationship Type="http://schemas.openxmlformats.org/officeDocument/2006/relationships/slideLayout" Target="/ppt/slideLayouts/slideLayout5.xml" Id="R963e9b1b45e04388" /><Relationship Type="http://schemas.openxmlformats.org/officeDocument/2006/relationships/slideLayout" Target="/ppt/slideLayouts/slideLayout6.xml" Id="Rf8a6dd3258974a26" /><Relationship Type="http://schemas.openxmlformats.org/officeDocument/2006/relationships/slideLayout" Target="/ppt/slideLayouts/slideLayout7.xml" Id="R344a83b5c6214b5e" /><Relationship Type="http://schemas.openxmlformats.org/officeDocument/2006/relationships/slideLayout" Target="/ppt/slideLayouts/slideLayout8.xml" Id="Raabde690764a4e31" /><Relationship Type="http://schemas.openxmlformats.org/officeDocument/2006/relationships/slideLayout" Target="/ppt/slideLayouts/slideLayout9.xml" Id="R6d0a00f9c2d0474b" /><Relationship Type="http://schemas.openxmlformats.org/officeDocument/2006/relationships/slideLayout" Target="/ppt/slideLayouts/slideLayout10.xml" Id="Reb1e491d309b44ab" /><Relationship Type="http://schemas.openxmlformats.org/officeDocument/2006/relationships/slideLayout" Target="/ppt/slideLayouts/slideLayout11.xml" Id="R733defaa6b124eb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9A9646D-3402-41B8-90BC-B43AAF0B4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20A62B-9780-4F5D-90B4-0F96B1B98E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F9A311-B705-445F-8336-3A6E06F6D28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9F87F0-21A9-4A2F-866D-84A4E0AB1A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FDACC2-2442-4B9A-A02D-C60184267D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10db33a0d4484c"/>
    <p:sldLayoutId xmlns:r="http://schemas.openxmlformats.org/officeDocument/2006/relationships" id="2147483650" r:id="R614b2c8bffb740ea"/>
    <p:sldLayoutId xmlns:r="http://schemas.openxmlformats.org/officeDocument/2006/relationships" id="2147483651" r:id="R79ee2193d52949c5"/>
    <p:sldLayoutId xmlns:r="http://schemas.openxmlformats.org/officeDocument/2006/relationships" id="2147483652" r:id="R5840ce17d8fc4151"/>
    <p:sldLayoutId xmlns:r="http://schemas.openxmlformats.org/officeDocument/2006/relationships" id="2147483653" r:id="R963e9b1b45e04388"/>
    <p:sldLayoutId xmlns:r="http://schemas.openxmlformats.org/officeDocument/2006/relationships" id="2147483654" r:id="Rf8a6dd3258974a26"/>
    <p:sldLayoutId xmlns:r="http://schemas.openxmlformats.org/officeDocument/2006/relationships" id="2147483655" r:id="R344a83b5c6214b5e"/>
    <p:sldLayoutId xmlns:r="http://schemas.openxmlformats.org/officeDocument/2006/relationships" id="2147483656" r:id="Raabde690764a4e31"/>
    <p:sldLayoutId xmlns:r="http://schemas.openxmlformats.org/officeDocument/2006/relationships" id="2147483657" r:id="R6d0a00f9c2d0474b"/>
    <p:sldLayoutId xmlns:r="http://schemas.openxmlformats.org/officeDocument/2006/relationships" id="2147483658" r:id="Reb1e491d309b44ab"/>
    <p:sldLayoutId xmlns:r="http://schemas.openxmlformats.org/officeDocument/2006/relationships" id="2147483659" r:id="R733defaa6b124eb4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224d1a2d54952" /><Relationship Type="http://schemas.openxmlformats.org/officeDocument/2006/relationships/image" Target="/ppt/media/image.png" Id="R0716ec3ea27c4648" /><Relationship Type="http://schemas.openxmlformats.org/officeDocument/2006/relationships/image" Target="/ppt/media/image2.png" Id="R7f63cf3351984090" /><Relationship Type="http://schemas.openxmlformats.org/officeDocument/2006/relationships/notesSlide" Target="/ppt/notesSlides/notesSlide1.xml" Id="R1d87805f230449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b9a9a3a5d44ab8" /><Relationship Type="http://schemas.openxmlformats.org/officeDocument/2006/relationships/image" Target="/ppt/media/image2.png" Id="R5129876931924438" /><Relationship Type="http://schemas.openxmlformats.org/officeDocument/2006/relationships/notesSlide" Target="/ppt/notesSlides/notesSlide2.xml" Id="Ra0a5190ee12f4c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e802872a684049" /><Relationship Type="http://schemas.openxmlformats.org/officeDocument/2006/relationships/image" Target="/ppt/media/image2.png" Id="Rdb829caff01f4834" /><Relationship Type="http://schemas.openxmlformats.org/officeDocument/2006/relationships/notesSlide" Target="/ppt/notesSlides/notesSlide3.xml" Id="Reae5a73499e340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4ad86c168f4d7d" /><Relationship Type="http://schemas.openxmlformats.org/officeDocument/2006/relationships/image" Target="/ppt/media/image2.png" Id="Ra554895534194452" /><Relationship Type="http://schemas.openxmlformats.org/officeDocument/2006/relationships/notesSlide" Target="/ppt/notesSlides/notesSlide4.xml" Id="Rc449bcac3ba3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e905ad43fe4f41" /><Relationship Type="http://schemas.openxmlformats.org/officeDocument/2006/relationships/image" Target="/ppt/media/image2.png" Id="R4a26d8be0ecb493f" /><Relationship Type="http://schemas.openxmlformats.org/officeDocument/2006/relationships/image" Target="/ppt/media/image3.png" Id="R2386549e4a02402c" /><Relationship Type="http://schemas.openxmlformats.org/officeDocument/2006/relationships/notesSlide" Target="/ppt/notesSlides/notesSlide5.xml" Id="R8fdc468598594d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2e636ec78d48d2" /><Relationship Type="http://schemas.openxmlformats.org/officeDocument/2006/relationships/notesSlide" Target="/ppt/notesSlides/notesSlide6.xml" Id="Ra9ef0f0793a24a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bc2ac9ba404876" /><Relationship Type="http://schemas.openxmlformats.org/officeDocument/2006/relationships/image" Target="/ppt/media/image2.png" Id="R900e100dea6a4c2c" /><Relationship Type="http://schemas.openxmlformats.org/officeDocument/2006/relationships/notesSlide" Target="/ppt/notesSlides/notesSlide7.xml" Id="R830f1c0c45c743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b90cf7b53d49c0" /><Relationship Type="http://schemas.openxmlformats.org/officeDocument/2006/relationships/hyperlink" Target="https://www.indiacode.nic.in/handle/123456789/1392" TargetMode="External" Id="R5a757659f470413d" /><Relationship Type="http://schemas.openxmlformats.org/officeDocument/2006/relationships/hyperlink" Target="https://www.ipindia.gov.in/resource/patents-resources-rules" TargetMode="External" Id="R0802c20b72944486" /><Relationship Type="http://schemas.openxmlformats.org/officeDocument/2006/relationships/hyperlink" Target="https://nbaindia.org/" TargetMode="External" Id="Rd31d35e2b06741dd" /><Relationship Type="http://schemas.openxmlformats.org/officeDocument/2006/relationships/hyperlink" Target="https://ayush.gov.in/resources/pdf/quality_standards/Drugs-and-Cosmetics-Act-Rules.pdf" TargetMode="External" Id="Rbc6fbac183184016" /><Relationship Type="http://schemas.openxmlformats.org/officeDocument/2006/relationships/hyperlink" Target="https://fssai.gov.in/upload/notifications/2022/05/62789a20b54bdGazette_Notification_Ayurveda_Aahara_09_05_2022.pdf" TargetMode="External" Id="R6d19f69acd774a86" /><Relationship Type="http://schemas.openxmlformats.org/officeDocument/2006/relationships/hyperlink" Target="https://www.tkdl.res.in/tkdl/langdefault/common/Abouttkdl.asp" TargetMode="External" Id="R5daa16ba54f94e91" /><Relationship Type="http://schemas.openxmlformats.org/officeDocument/2006/relationships/hyperlink" Target="https://www.wipo.int/en/web/treaties/ip/gratk/index" TargetMode="External" Id="Rb4052d3fb652440c" /><Relationship Type="http://schemas.openxmlformats.org/officeDocument/2006/relationships/hyperlink" Target="https://bhashini.gov.in/" TargetMode="External" Id="Rb755f423b60443dd" /><Relationship Type="http://schemas.openxmlformats.org/officeDocument/2006/relationships/notesSlide" Target="/ppt/notesSlides/notesSlide8.xml" Id="R0c98749070ff4e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16ec3ea27c4648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BA156EFE-7A4C-446E-8980-1629CC8017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IP-SAKTI SAHAYAK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36B95408-2734-4B10-9F58-C9202C16F8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C6FCDB1-C6B1-46E9-99D6-0CAF9B26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28800"/>
            <a:ext cx="571500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13"/>
              </a:spcAft>
              <a:buNone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Problem Statement ID — </a:t>
            </a: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26045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15"/>
              </a:spcAft>
              <a:buNone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Problem Statement Title — </a:t>
            </a: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Multilingual, source-cited AI assistant for Ayurveda IP and regulatory guidance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13"/>
              </a:spcAft>
              <a:buNone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Theme — </a:t>
            </a: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MedTech / BioTech / HealthTech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13"/>
              </a:spcAft>
              <a:buNone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PS Category — </a:t>
            </a: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13"/>
              </a:spcAft>
              <a:buNone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Team ID — </a:t>
            </a:r>
            <a:r>
              <a:rPr sz="1575">
                <a:solidFill>
                  <a:srgbClr val="17212B"/>
                </a:solidFill>
                <a:latin typeface="Arial"/>
                <a:ea typeface="Arial"/>
                <a:cs typeface="Arial"/>
              </a:rPr>
              <a:t>To be assigned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Team Name — </a:t>
            </a: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Naut IQ</a:t>
            </a: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3cf33519840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28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4DB3FD05-3D9B-4817-A859-716E70AE62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PROBLEM AND SOLUTION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873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Naut</a:t>
            </a:r>
            <a:endParaRPr/>
          </a:p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IQ</a:t>
            </a:r>
            <a:endParaRPr/>
          </a:p>
        </p:txBody>
      </p:sp>
      <p:pic>
        <p:nvPicPr>
          <p:cNvPr id="1537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9876931924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solution-name">
            <a:extLst xmlns:a="http://schemas.openxmlformats.org/drawingml/2006/main">
              <a:ext uri="{FF2B5EF4-FFF2-40B4-BE49-F238E27FC236}">
                <a16:creationId xmlns:a16="http://schemas.microsoft.com/office/drawing/2014/main" id="{8D09984B-9702-4114-A27C-A58E3127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ONE PRODUCT CURRENTLY REQUIRES FIVE DISCONNECTED LEGAL AND REGULATORY DECISIONS</a:t>
            </a:r>
          </a:p>
        </p:txBody>
      </p:sp>
      <p:sp>
        <p:nvSpPr>
          <p:cNvPr id="15365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4AA89C9B-BE32-42F0-8235-2843E396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4095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66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78C77223-A784-4704-AA30-B07FDAFF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5367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D045E3AE-9CF4-4AB1-BDD9-29817C3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638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t">
            <a:normAutofit fontScale="98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What category is the formulation?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Which IP rights can protect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Do ABS and traditional-knowledge duties apply?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Which evidence, licence, label and advertisement rules apply?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What changes for an export market?</a:t>
            </a:r>
          </a:p>
        </p:txBody>
      </p:sp>
      <p:sp>
        <p:nvSpPr>
          <p:cNvPr id="15368" name="passport-node">
            <a:extLst xmlns:a="http://schemas.openxmlformats.org/drawingml/2006/main">
              <a:ext uri="{FF2B5EF4-FFF2-40B4-BE49-F238E27FC236}">
                <a16:creationId xmlns:a16="http://schemas.microsoft.com/office/drawing/2014/main" id="{7CC6F268-6F2E-4331-8465-32D5C224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62200"/>
            <a:ext cx="2209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22860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PRODUCT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PASSPORT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Ingredients • biological source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text reference • claims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novelty • target market</a:t>
            </a:r>
          </a:p>
        </p:txBody>
      </p:sp>
      <p:sp>
        <p:nvSpPr>
          <p:cNvPr id="15369" name="problem-to-passport">
            <a:extLst xmlns:a="http://schemas.openxmlformats.org/drawingml/2006/main">
              <a:ext uri="{FF2B5EF4-FFF2-40B4-BE49-F238E27FC236}">
                <a16:creationId xmlns:a16="http://schemas.microsoft.com/office/drawing/2014/main" id="{9541F0C2-29D4-4ECC-BEDC-39E9CA20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370" name="passport-to-solution">
            <a:extLst xmlns:a="http://schemas.openxmlformats.org/drawingml/2006/main">
              <a:ext uri="{FF2B5EF4-FFF2-40B4-BE49-F238E27FC236}">
                <a16:creationId xmlns:a16="http://schemas.microsoft.com/office/drawing/2014/main" id="{59E42469-F896-4D99-84BF-58691E8A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371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4A3AAE75-40A5-4D13-BB54-711F35BC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52600"/>
            <a:ext cx="4095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72" name="solution-heading">
            <a:extLst xmlns:a="http://schemas.openxmlformats.org/drawingml/2006/main">
              <a:ext uri="{FF2B5EF4-FFF2-40B4-BE49-F238E27FC236}">
                <a16:creationId xmlns:a16="http://schemas.microsoft.com/office/drawing/2014/main" id="{96A5F0ED-3BC3-44FC-ADB5-60D64271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SOLUTION — IP-SAKTI SAHAYAK</a:t>
            </a:r>
          </a:p>
        </p:txBody>
      </p:sp>
      <p:sp>
        <p:nvSpPr>
          <p:cNvPr id="15373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06F35BD7-7E83-44F0-A504-2252DDE3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43150"/>
            <a:ext cx="3638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t">
            <a:normAutofit fontScale="940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1  Classify the product with minimum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2  Keep India and international guidance separate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3  Route the case across IP, ABS/TK and regulation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4  Retrieve versioned official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5  Deliver a cited checklist, risks, forms and human-handoff path</a:t>
            </a:r>
          </a:p>
        </p:txBody>
      </p:sp>
      <p:sp>
        <p:nvSpPr>
          <p:cNvPr id="15374" name="solution-output">
            <a:extLst xmlns:a="http://schemas.openxmlformats.org/drawingml/2006/main">
              <a:ext uri="{FF2B5EF4-FFF2-40B4-BE49-F238E27FC236}">
                <a16:creationId xmlns:a16="http://schemas.microsoft.com/office/drawing/2014/main" id="{F0C44119-85F9-44C1-88F3-B1C066D6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14950"/>
            <a:ext cx="982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5240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OUTPUT  Product classification  •  IP strategy  •  ABS/TK checklist  •  market-specific obligations  •  provision-level citations</a:t>
            </a:r>
          </a:p>
        </p:txBody>
      </p:sp>
    </p:spTree>
    <p:extLst>
      <p:ext uri="{BB962C8B-B14F-4D97-AF65-F5344CB8AC3E}">
        <p14:creationId xmlns:p14="http://schemas.microsoft.com/office/powerpoint/2010/main" val="20600376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25CD443-3261-48BE-BE5A-14F7FFC75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0"/>
            <a:ext cx="7620000" cy="1095375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SYSTEM WORKFLOW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873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Naut</a:t>
            </a:r>
            <a:endParaRPr/>
          </a:p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IQ</a:t>
            </a:r>
            <a:endParaRPr/>
          </a:p>
        </p:txBody>
      </p:sp>
      <p:pic>
        <p:nvPicPr>
          <p:cNvPr id="1744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29caff01f4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workflow-thesis">
            <a:extLst xmlns:a="http://schemas.openxmlformats.org/drawingml/2006/main">
              <a:ext uri="{FF2B5EF4-FFF2-40B4-BE49-F238E27FC236}">
                <a16:creationId xmlns:a16="http://schemas.microsoft.com/office/drawing/2014/main" id="{830B8426-4CA0-4E1F-9207-E2ABBECA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ASSISTANT CLASSIFIES FIRST, THEN BRANCHES INTO THE CORRECT REGULATORY ROUTE</a:t>
            </a:r>
          </a:p>
        </p:txBody>
      </p:sp>
      <p:sp>
        <p:nvSpPr>
          <p:cNvPr id="17413" name="flow-start">
            <a:extLst xmlns:a="http://schemas.openxmlformats.org/drawingml/2006/main">
              <a:ext uri="{FF2B5EF4-FFF2-40B4-BE49-F238E27FC236}">
                <a16:creationId xmlns:a16="http://schemas.microsoft.com/office/drawing/2014/main" id="{17ACBAA8-02FA-4493-AD29-8100CD37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6685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8730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START — USER QUERY</a:t>
            </a:r>
          </a:p>
        </p:txBody>
      </p:sp>
      <p:sp>
        <p:nvSpPr>
          <p:cNvPr id="17414" name="flow-context">
            <a:extLst xmlns:a="http://schemas.openxmlformats.org/drawingml/2006/main">
              <a:ext uri="{FF2B5EF4-FFF2-40B4-BE49-F238E27FC236}">
                <a16:creationId xmlns:a16="http://schemas.microsoft.com/office/drawing/2014/main" id="{90113380-FA6E-42CB-B351-916636E6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781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SET LANGUAGE + JURISDICTION  |  INDIA OR TARGET COUNTRY</a:t>
            </a:r>
          </a:p>
        </p:txBody>
      </p:sp>
      <p:sp>
        <p:nvSpPr>
          <p:cNvPr id="17415" name="flow-facts">
            <a:extLst xmlns:a="http://schemas.openxmlformats.org/drawingml/2006/main">
              <a:ext uri="{FF2B5EF4-FFF2-40B4-BE49-F238E27FC236}">
                <a16:creationId xmlns:a16="http://schemas.microsoft.com/office/drawing/2014/main" id="{A42076A2-8ADF-4BAE-BC1F-F8F736D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913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ASK MINIMUM FACTS  |  TEXT • INGREDIENTS • SOURCE • CLAIMS • NOVELTY</a:t>
            </a:r>
          </a:p>
        </p:txBody>
      </p:sp>
      <p:sp>
        <p:nvSpPr>
          <p:cNvPr id="17416" name="flow-classify">
            <a:extLst xmlns:a="http://schemas.openxmlformats.org/drawingml/2006/main">
              <a:ext uri="{FF2B5EF4-FFF2-40B4-BE49-F238E27FC236}">
                <a16:creationId xmlns:a16="http://schemas.microsoft.com/office/drawing/2014/main" id="{8048B989-0006-47D9-8334-77F272C8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05150"/>
            <a:ext cx="180975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4E6"/>
          </a:solidFill>
          <a:ln xmlns:a="http://schemas.openxmlformats.org/drawingml/2006/main" w="20955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6740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CLASSIFY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FORMULATION</a:t>
            </a:r>
          </a:p>
        </p:txBody>
      </p:sp>
      <p:sp>
        <p:nvSpPr>
          <p:cNvPr id="17417" name="route-ayush">
            <a:extLst xmlns:a="http://schemas.openxmlformats.org/drawingml/2006/main">
              <a:ext uri="{FF2B5EF4-FFF2-40B4-BE49-F238E27FC236}">
                <a16:creationId xmlns:a16="http://schemas.microsoft.com/office/drawing/2014/main" id="{BCBE1387-AC52-43A9-8F62-55BE02BE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AYUSH DRUG</a:t>
            </a:r>
          </a:p>
        </p:txBody>
      </p:sp>
      <p:sp>
        <p:nvSpPr>
          <p:cNvPr id="17418" name="route-food">
            <a:extLst xmlns:a="http://schemas.openxmlformats.org/drawingml/2006/main">
              <a:ext uri="{FF2B5EF4-FFF2-40B4-BE49-F238E27FC236}">
                <a16:creationId xmlns:a16="http://schemas.microsoft.com/office/drawing/2014/main" id="{A19CDB28-4506-44A9-8511-46BB712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95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FOOD / COSMETIC</a:t>
            </a:r>
          </a:p>
        </p:txBody>
      </p:sp>
      <p:sp>
        <p:nvSpPr>
          <p:cNvPr id="17419" name="route-phyto">
            <a:extLst xmlns:a="http://schemas.openxmlformats.org/drawingml/2006/main">
              <a:ext uri="{FF2B5EF4-FFF2-40B4-BE49-F238E27FC236}">
                <a16:creationId xmlns:a16="http://schemas.microsoft.com/office/drawing/2014/main" id="{957C9D4C-7FC6-4E7E-8273-AE1BB49B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NEW DRUG / PHYTOPHARMA</a:t>
            </a:r>
          </a:p>
        </p:txBody>
      </p:sp>
      <p:sp>
        <p:nvSpPr>
          <p:cNvPr id="17420" name="route-ayush-detail">
            <a:extLst xmlns:a="http://schemas.openxmlformats.org/drawingml/2006/main">
              <a:ext uri="{FF2B5EF4-FFF2-40B4-BE49-F238E27FC236}">
                <a16:creationId xmlns:a16="http://schemas.microsoft.com/office/drawing/2014/main" id="{286C3959-B76E-495D-8DE4-A75F0179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883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Classical or patent-proprietary route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Licence • evidence • label</a:t>
            </a:r>
          </a:p>
        </p:txBody>
      </p:sp>
      <p:sp>
        <p:nvSpPr>
          <p:cNvPr id="17421" name="route-food-detail">
            <a:extLst xmlns:a="http://schemas.openxmlformats.org/drawingml/2006/main">
              <a:ext uri="{FF2B5EF4-FFF2-40B4-BE49-F238E27FC236}">
                <a16:creationId xmlns:a16="http://schemas.microsoft.com/office/drawing/2014/main" id="{B2CE7E6D-FCE1-42FC-B977-F8CA789A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8630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908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Ayurveda Aahara or cosmetic route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FSSAI / cosmetic compliance</a:t>
            </a:r>
          </a:p>
        </p:txBody>
      </p:sp>
      <p:sp>
        <p:nvSpPr>
          <p:cNvPr id="17422" name="route-phyto-detail">
            <a:extLst xmlns:a="http://schemas.openxmlformats.org/drawingml/2006/main">
              <a:ext uri="{FF2B5EF4-FFF2-40B4-BE49-F238E27FC236}">
                <a16:creationId xmlns:a16="http://schemas.microsoft.com/office/drawing/2014/main" id="{07AAC368-205C-44F3-9799-B632873D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8630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Non-classical evidence route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Safety • efficacy • approvals</a:t>
            </a:r>
          </a:p>
        </p:txBody>
      </p:sp>
      <p:sp>
        <p:nvSpPr>
          <p:cNvPr id="17423" name="flow-evidence">
            <a:extLst xmlns:a="http://schemas.openxmlformats.org/drawingml/2006/main">
              <a:ext uri="{FF2B5EF4-FFF2-40B4-BE49-F238E27FC236}">
                <a16:creationId xmlns:a16="http://schemas.microsoft.com/office/drawing/2014/main" id="{4BA0ED54-32B3-466A-BBFB-7132E1CB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673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20955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992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IP + ABS/TK + PRIOR-ART + OFFICIAL-SOURCE RAG</a:t>
            </a:r>
          </a:p>
        </p:txBody>
      </p:sp>
      <p:sp>
        <p:nvSpPr>
          <p:cNvPr id="17424" name="flow-handoff">
            <a:extLst xmlns:a="http://schemas.openxmlformats.org/drawingml/2006/main">
              <a:ext uri="{FF2B5EF4-FFF2-40B4-BE49-F238E27FC236}">
                <a16:creationId xmlns:a16="http://schemas.microsoft.com/office/drawing/2014/main" id="{DB61486D-27BB-4274-9E22-9F3E5BA0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925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MISSING / HIGH-RISK FACTS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Clarify or hand off to facilitator</a:t>
            </a:r>
          </a:p>
        </p:txBody>
      </p:sp>
      <p:sp>
        <p:nvSpPr>
          <p:cNvPr id="17425" name="flow-action">
            <a:extLst xmlns:a="http://schemas.openxmlformats.org/drawingml/2006/main">
              <a:ext uri="{FF2B5EF4-FFF2-40B4-BE49-F238E27FC236}">
                <a16:creationId xmlns:a16="http://schemas.microsoft.com/office/drawing/2014/main" id="{90DBBB57-29C6-4B62-9E25-DF39752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505450"/>
            <a:ext cx="266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925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CITED ACTION PLAN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Classification • checklist • forms • risks</a:t>
            </a:r>
          </a:p>
        </p:txBody>
      </p:sp>
      <p:cxnSp>
        <p:nvCxnSpPr>
          <p:cNvPr id="17457" name=""/>
          <p:cNvCxnSpPr>
            <a:stCxn xmlns:a="http://schemas.openxmlformats.org/drawingml/2006/main" id="17413" idx="2"/>
            <a:endCxn xmlns:a="http://schemas.openxmlformats.org/drawingml/2006/main" id="17414" idx="0"/>
          </p:cNvCxnSpPr>
          <p:nvPr/>
        </p:nvCxnSpPr>
        <p:spPr>
          <a:xfrm xmlns:a="http://schemas.openxmlformats.org/drawingml/2006/main">
            <a:off x="6096000" y="18097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58" name=""/>
          <p:cNvCxnSpPr>
            <a:stCxn xmlns:a="http://schemas.openxmlformats.org/drawingml/2006/main" id="17414" idx="2"/>
            <a:endCxn xmlns:a="http://schemas.openxmlformats.org/drawingml/2006/main" id="17415" idx="0"/>
          </p:cNvCxnSpPr>
          <p:nvPr/>
        </p:nvCxnSpPr>
        <p:spPr>
          <a:xfrm xmlns:a="http://schemas.openxmlformats.org/drawingml/2006/main">
            <a:off x="6096000" y="2362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59" name=""/>
          <p:cNvCxnSpPr>
            <a:stCxn xmlns:a="http://schemas.openxmlformats.org/drawingml/2006/main" id="17415" idx="2"/>
            <a:endCxn xmlns:a="http://schemas.openxmlformats.org/drawingml/2006/main" id="17416" idx="0"/>
          </p:cNvCxnSpPr>
          <p:nvPr/>
        </p:nvCxnSpPr>
        <p:spPr>
          <a:xfrm xmlns:a="http://schemas.openxmlformats.org/drawingml/2006/main">
            <a:off x="6096000" y="295275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0" name=""/>
          <p:cNvCxnSpPr>
            <a:stCxn xmlns:a="http://schemas.openxmlformats.org/drawingml/2006/main" id="17416" idx="2"/>
            <a:endCxn xmlns:a="http://schemas.openxmlformats.org/drawingml/2006/main" id="17417" idx="0"/>
          </p:cNvCxnSpPr>
          <p:nvPr/>
        </p:nvCxnSpPr>
        <p:spPr>
          <a:xfrm xmlns:a="http://schemas.openxmlformats.org/drawingml/2006/main" flipH="1">
            <a:off x="2066925" y="3905250"/>
            <a:ext cx="4029075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1" name=""/>
          <p:cNvCxnSpPr>
            <a:stCxn xmlns:a="http://schemas.openxmlformats.org/drawingml/2006/main" id="17416" idx="2"/>
            <a:endCxn xmlns:a="http://schemas.openxmlformats.org/drawingml/2006/main" id="17418" idx="0"/>
          </p:cNvCxnSpPr>
          <p:nvPr/>
        </p:nvCxnSpPr>
        <p:spPr>
          <a:xfrm xmlns:a="http://schemas.openxmlformats.org/drawingml/2006/main">
            <a:off x="6096000" y="39052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2" name=""/>
          <p:cNvCxnSpPr>
            <a:stCxn xmlns:a="http://schemas.openxmlformats.org/drawingml/2006/main" id="17416" idx="2"/>
            <a:endCxn xmlns:a="http://schemas.openxmlformats.org/drawingml/2006/main" id="17419" idx="0"/>
          </p:cNvCxnSpPr>
          <p:nvPr/>
        </p:nvCxnSpPr>
        <p:spPr>
          <a:xfrm xmlns:a="http://schemas.openxmlformats.org/drawingml/2006/main">
            <a:off x="6096000" y="3905250"/>
            <a:ext cx="4029075" cy="190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3" name=""/>
          <p:cNvCxnSpPr>
            <a:stCxn xmlns:a="http://schemas.openxmlformats.org/drawingml/2006/main" id="17417" idx="2"/>
            <a:endCxn xmlns:a="http://schemas.openxmlformats.org/drawingml/2006/main" id="17420" idx="0"/>
          </p:cNvCxnSpPr>
          <p:nvPr/>
        </p:nvCxnSpPr>
        <p:spPr>
          <a:xfrm xmlns:a="http://schemas.openxmlformats.org/drawingml/2006/main">
            <a:off x="2066925" y="4552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4" name=""/>
          <p:cNvCxnSpPr>
            <a:stCxn xmlns:a="http://schemas.openxmlformats.org/drawingml/2006/main" id="17418" idx="2"/>
            <a:endCxn xmlns:a="http://schemas.openxmlformats.org/drawingml/2006/main" id="17421" idx="0"/>
          </p:cNvCxnSpPr>
          <p:nvPr/>
        </p:nvCxnSpPr>
        <p:spPr>
          <a:xfrm xmlns:a="http://schemas.openxmlformats.org/drawingml/2006/main">
            <a:off x="6096000" y="4552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5" name=""/>
          <p:cNvCxnSpPr>
            <a:stCxn xmlns:a="http://schemas.openxmlformats.org/drawingml/2006/main" id="17419" idx="2"/>
            <a:endCxn xmlns:a="http://schemas.openxmlformats.org/drawingml/2006/main" id="17422" idx="0"/>
          </p:cNvCxnSpPr>
          <p:nvPr/>
        </p:nvCxnSpPr>
        <p:spPr>
          <a:xfrm xmlns:a="http://schemas.openxmlformats.org/drawingml/2006/main">
            <a:off x="10125075" y="4552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6" name=""/>
          <p:cNvCxnSpPr>
            <a:stCxn xmlns:a="http://schemas.openxmlformats.org/drawingml/2006/main" id="17420" idx="2"/>
            <a:endCxn xmlns:a="http://schemas.openxmlformats.org/drawingml/2006/main" id="17423" idx="0"/>
          </p:cNvCxnSpPr>
          <p:nvPr/>
        </p:nvCxnSpPr>
        <p:spPr>
          <a:xfrm xmlns:a="http://schemas.openxmlformats.org/drawingml/2006/main">
            <a:off x="2066925" y="5276850"/>
            <a:ext cx="402907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7" name=""/>
          <p:cNvCxnSpPr>
            <a:stCxn xmlns:a="http://schemas.openxmlformats.org/drawingml/2006/main" id="17421" idx="2"/>
            <a:endCxn xmlns:a="http://schemas.openxmlformats.org/drawingml/2006/main" id="17423" idx="0"/>
          </p:cNvCxnSpPr>
          <p:nvPr/>
        </p:nvCxnSpPr>
        <p:spPr>
          <a:xfrm xmlns:a="http://schemas.openxmlformats.org/drawingml/2006/main">
            <a:off x="6096000" y="52768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8" name=""/>
          <p:cNvCxnSpPr>
            <a:stCxn xmlns:a="http://schemas.openxmlformats.org/drawingml/2006/main" id="17422" idx="2"/>
            <a:endCxn xmlns:a="http://schemas.openxmlformats.org/drawingml/2006/main" id="17423" idx="0"/>
          </p:cNvCxnSpPr>
          <p:nvPr/>
        </p:nvCxnSpPr>
        <p:spPr>
          <a:xfrm xmlns:a="http://schemas.openxmlformats.org/drawingml/2006/main" flipH="1">
            <a:off x="6096000" y="5276850"/>
            <a:ext cx="402907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69" name=""/>
          <p:cNvCxnSpPr>
            <a:stCxn xmlns:a="http://schemas.openxmlformats.org/drawingml/2006/main" id="17423" idx="1"/>
            <a:endCxn xmlns:a="http://schemas.openxmlformats.org/drawingml/2006/main" id="17424" idx="3"/>
          </p:cNvCxnSpPr>
          <p:nvPr/>
        </p:nvCxnSpPr>
        <p:spPr>
          <a:xfrm xmlns:a="http://schemas.openxmlformats.org/drawingml/2006/main" flipH="1">
            <a:off x="3448050" y="5743575"/>
            <a:ext cx="1028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28C28"/>
            </a:solidFill>
            <a:prstDash val="solid"/>
            <a:tailEnd type="triangle" w="sm" len="sm"/>
          </a:ln>
        </p:spPr>
      </p:cxnSp>
      <p:cxnSp>
        <p:nvCxnSpPr>
          <p:cNvPr id="17470" name=""/>
          <p:cNvCxnSpPr>
            <a:stCxn xmlns:a="http://schemas.openxmlformats.org/drawingml/2006/main" id="17423" idx="3"/>
            <a:endCxn xmlns:a="http://schemas.openxmlformats.org/drawingml/2006/main" id="17425" idx="1"/>
          </p:cNvCxnSpPr>
          <p:nvPr/>
        </p:nvCxnSpPr>
        <p:spPr>
          <a:xfrm xmlns:a="http://schemas.openxmlformats.org/drawingml/2006/main">
            <a:off x="7715250" y="5743575"/>
            <a:ext cx="1028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D32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646479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25CD443-3261-48BE-BE5A-14F7FFC75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0"/>
            <a:ext cx="7620000" cy="1095375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873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Naut</a:t>
            </a:r>
            <a:endParaRPr/>
          </a:p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IQ</a:t>
            </a:r>
            <a:endParaRPr/>
          </a:p>
        </p:txBody>
      </p:sp>
      <p:pic>
        <p:nvPicPr>
          <p:cNvPr id="174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4895534194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architecture-thesis">
            <a:extLst xmlns:a="http://schemas.openxmlformats.org/drawingml/2006/main">
              <a:ext uri="{FF2B5EF4-FFF2-40B4-BE49-F238E27FC236}">
                <a16:creationId xmlns:a16="http://schemas.microsoft.com/office/drawing/2014/main" id="{4DD3F73A-88E1-4C88-91DD-9576617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PROPOSED STACK — EVERY TECHNOLOGY HAS A DEFINED ROLE IN THE EVIDENCE PIPELINE</a:t>
            </a:r>
          </a:p>
        </p:txBody>
      </p:sp>
      <p:sp>
        <p:nvSpPr>
          <p:cNvPr id="17413" name="arch-experience">
            <a:extLst xmlns:a="http://schemas.openxmlformats.org/drawingml/2006/main">
              <a:ext uri="{FF2B5EF4-FFF2-40B4-BE49-F238E27FC236}">
                <a16:creationId xmlns:a16="http://schemas.microsoft.com/office/drawing/2014/main" id="{E27BB91A-09D3-4AC4-B9BB-9C80742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EXPERIENCE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Next.js + TailwindCSS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BHASHINI text / voice</a:t>
            </a:r>
          </a:p>
        </p:txBody>
      </p:sp>
      <p:sp>
        <p:nvSpPr>
          <p:cNvPr id="17414" name="arch-services">
            <a:extLst xmlns:a="http://schemas.openxmlformats.org/drawingml/2006/main">
              <a:ext uri="{FF2B5EF4-FFF2-40B4-BE49-F238E27FC236}">
                <a16:creationId xmlns:a16="http://schemas.microsoft.com/office/drawing/2014/main" id="{DEF0B5CD-37FD-49C6-B67D-7BD014DA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383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BACKEND + RULES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FastAPI + Pydantic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Product Passport validation</a:t>
            </a:r>
          </a:p>
        </p:txBody>
      </p:sp>
      <p:sp>
        <p:nvSpPr>
          <p:cNvPr id="17415" name="arch-intelligence">
            <a:extLst xmlns:a="http://schemas.openxmlformats.org/drawingml/2006/main">
              <a:ext uri="{FF2B5EF4-FFF2-40B4-BE49-F238E27FC236}">
                <a16:creationId xmlns:a16="http://schemas.microsoft.com/office/drawing/2014/main" id="{83E8EE2C-3ABA-42D0-9CB9-A6D23C2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RAG + AI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LangGraph + Llama 3.1 8B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BGE-M3 embeddings</a:t>
            </a:r>
          </a:p>
        </p:txBody>
      </p:sp>
      <p:sp>
        <p:nvSpPr>
          <p:cNvPr id="17416" name="arch-evidence">
            <a:extLst xmlns:a="http://schemas.openxmlformats.org/drawingml/2006/main">
              <a:ext uri="{FF2B5EF4-FFF2-40B4-BE49-F238E27FC236}">
                <a16:creationId xmlns:a16="http://schemas.microsoft.com/office/drawing/2014/main" id="{BD1C5C8E-C388-4D5D-B61B-AE586443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EVIDENCE + AUDIT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PostgreSQL / pgvector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Neo4j + version trail</a:t>
            </a:r>
          </a:p>
        </p:txBody>
      </p:sp>
      <p:cxnSp>
        <p:nvCxnSpPr>
          <p:cNvPr id="17444" name=""/>
          <p:cNvCxnSpPr>
            <a:stCxn xmlns:a="http://schemas.openxmlformats.org/drawingml/2006/main" id="17413" idx="3"/>
            <a:endCxn xmlns:a="http://schemas.openxmlformats.org/drawingml/2006/main" id="17414" idx="1"/>
          </p:cNvCxnSpPr>
          <p:nvPr/>
        </p:nvCxnSpPr>
        <p:spPr>
          <a:xfrm xmlns:a="http://schemas.openxmlformats.org/drawingml/2006/main">
            <a:off x="2895600" y="20764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45" name=""/>
          <p:cNvCxnSpPr>
            <a:stCxn xmlns:a="http://schemas.openxmlformats.org/drawingml/2006/main" id="17414" idx="3"/>
            <a:endCxn xmlns:a="http://schemas.openxmlformats.org/drawingml/2006/main" id="17415" idx="1"/>
          </p:cNvCxnSpPr>
          <p:nvPr/>
        </p:nvCxnSpPr>
        <p:spPr>
          <a:xfrm xmlns:a="http://schemas.openxmlformats.org/drawingml/2006/main">
            <a:off x="5810250" y="20764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46" name=""/>
          <p:cNvCxnSpPr>
            <a:stCxn xmlns:a="http://schemas.openxmlformats.org/drawingml/2006/main" id="17415" idx="3"/>
            <a:endCxn xmlns:a="http://schemas.openxmlformats.org/drawingml/2006/main" id="17416" idx="1"/>
          </p:cNvCxnSpPr>
          <p:nvPr/>
        </p:nvCxnSpPr>
        <p:spPr>
          <a:xfrm xmlns:a="http://schemas.openxmlformats.org/drawingml/2006/main">
            <a:off x="8724900" y="20764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sp>
        <p:nvSpPr>
          <p:cNvPr id="17420" name="stack-heading">
            <a:extLst xmlns:a="http://schemas.openxmlformats.org/drawingml/2006/main">
              <a:ext uri="{FF2B5EF4-FFF2-40B4-BE49-F238E27FC236}">
                <a16:creationId xmlns:a16="http://schemas.microsoft.com/office/drawing/2014/main" id="{6B0363EB-EF2E-4A2A-AD92-D9A26812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TECHNOLOGY  |  WHAT WE USE IT FOR  |  WHY IT FITS</a:t>
            </a:r>
          </a:p>
        </p:txBody>
      </p:sp>
      <p:sp>
        <p:nvSpPr>
          <p:cNvPr id="17421" name="stack-layer-0">
            <a:extLst xmlns:a="http://schemas.openxmlformats.org/drawingml/2006/main">
              <a:ext uri="{FF2B5EF4-FFF2-40B4-BE49-F238E27FC236}">
                <a16:creationId xmlns:a16="http://schemas.microsoft.com/office/drawing/2014/main" id="{C8E4FF95-147A-49F5-9DC6-C5C29CAE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7422" name="stack-tech-0">
            <a:extLst xmlns:a="http://schemas.openxmlformats.org/drawingml/2006/main">
              <a:ext uri="{FF2B5EF4-FFF2-40B4-BE49-F238E27FC236}">
                <a16:creationId xmlns:a16="http://schemas.microsoft.com/office/drawing/2014/main" id="{3DCDD36A-8C70-4ACD-8F3F-77B5B319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6230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9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Next.js + TailwindCSS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BHASHINI APIs</a:t>
            </a:r>
          </a:p>
        </p:txBody>
      </p:sp>
      <p:sp>
        <p:nvSpPr>
          <p:cNvPr id="17423" name="stack-why-0">
            <a:extLst xmlns:a="http://schemas.openxmlformats.org/drawingml/2006/main">
              <a:ext uri="{FF2B5EF4-FFF2-40B4-BE49-F238E27FC236}">
                <a16:creationId xmlns:a16="http://schemas.microsoft.com/office/drawing/2014/main" id="{55BC9AD2-1644-4C88-8D84-FA11183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62300"/>
            <a:ext cx="6267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Responsive multilingual PWA; Indian-language translation, speech input and audio output</a:t>
            </a:r>
          </a:p>
        </p:txBody>
      </p:sp>
      <p:sp>
        <p:nvSpPr>
          <p:cNvPr id="17424" name="stack-layer-1">
            <a:extLst xmlns:a="http://schemas.openxmlformats.org/drawingml/2006/main">
              <a:ext uri="{FF2B5EF4-FFF2-40B4-BE49-F238E27FC236}">
                <a16:creationId xmlns:a16="http://schemas.microsoft.com/office/drawing/2014/main" id="{920B94D0-D28E-40A9-A60C-8B002219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3325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7425" name="stack-tech-1">
            <a:extLst xmlns:a="http://schemas.openxmlformats.org/drawingml/2006/main">
              <a:ext uri="{FF2B5EF4-FFF2-40B4-BE49-F238E27FC236}">
                <a16:creationId xmlns:a16="http://schemas.microsoft.com/office/drawing/2014/main" id="{5CFB37F8-21F7-41CD-A579-4AABCBCF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43325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9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FastAPI + Pydantic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LangGraph</a:t>
            </a:r>
          </a:p>
        </p:txBody>
      </p:sp>
      <p:sp>
        <p:nvSpPr>
          <p:cNvPr id="17426" name="stack-why-1">
            <a:extLst xmlns:a="http://schemas.openxmlformats.org/drawingml/2006/main">
              <a:ext uri="{FF2B5EF4-FFF2-40B4-BE49-F238E27FC236}">
                <a16:creationId xmlns:a16="http://schemas.microsoft.com/office/drawing/2014/main" id="{B934533A-0642-4492-818C-A4FDB22A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43325"/>
            <a:ext cx="6267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85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Typed APIs and validated facts; deterministic orchestration across classify → retrieve → verify</a:t>
            </a:r>
          </a:p>
        </p:txBody>
      </p:sp>
      <p:sp>
        <p:nvSpPr>
          <p:cNvPr id="17427" name="stack-layer-2">
            <a:extLst xmlns:a="http://schemas.openxmlformats.org/drawingml/2006/main">
              <a:ext uri="{FF2B5EF4-FFF2-40B4-BE49-F238E27FC236}">
                <a16:creationId xmlns:a16="http://schemas.microsoft.com/office/drawing/2014/main" id="{6C4559E8-0CA9-4E6A-BE69-F2A95DC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AI + SEARCH</a:t>
            </a:r>
          </a:p>
        </p:txBody>
      </p:sp>
      <p:sp>
        <p:nvSpPr>
          <p:cNvPr id="17428" name="stack-tech-2">
            <a:extLst xmlns:a="http://schemas.openxmlformats.org/drawingml/2006/main">
              <a:ext uri="{FF2B5EF4-FFF2-40B4-BE49-F238E27FC236}">
                <a16:creationId xmlns:a16="http://schemas.microsoft.com/office/drawing/2014/main" id="{07C3541F-B4B4-458C-82C9-7C3A96F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243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9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Llama 3.1 8B Instruct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BGE-M3</a:t>
            </a:r>
          </a:p>
        </p:txBody>
      </p:sp>
      <p:sp>
        <p:nvSpPr>
          <p:cNvPr id="17429" name="stack-why-2">
            <a:extLst xmlns:a="http://schemas.openxmlformats.org/drawingml/2006/main">
              <a:ext uri="{FF2B5EF4-FFF2-40B4-BE49-F238E27FC236}">
                <a16:creationId xmlns:a16="http://schemas.microsoft.com/office/drawing/2014/main" id="{EB0CC175-8CBD-49FC-8E22-AD66D54D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6267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37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Self-hostable answer synthesis; multilingual embeddings for Indian-language and English legal text</a:t>
            </a:r>
          </a:p>
        </p:txBody>
      </p:sp>
      <p:sp>
        <p:nvSpPr>
          <p:cNvPr id="17430" name="stack-layer-3">
            <a:extLst xmlns:a="http://schemas.openxmlformats.org/drawingml/2006/main">
              <a:ext uri="{FF2B5EF4-FFF2-40B4-BE49-F238E27FC236}">
                <a16:creationId xmlns:a16="http://schemas.microsoft.com/office/drawing/2014/main" id="{218489B9-1E5F-4566-9D8B-878BF6FA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7431" name="stack-tech-3">
            <a:extLst xmlns:a="http://schemas.openxmlformats.org/drawingml/2006/main">
              <a:ext uri="{FF2B5EF4-FFF2-40B4-BE49-F238E27FC236}">
                <a16:creationId xmlns:a16="http://schemas.microsoft.com/office/drawing/2014/main" id="{7D9BC08F-C969-4389-9597-F441E84C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05375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9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PostgreSQL + pgvector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Neo4j + MinIO</a:t>
            </a:r>
          </a:p>
        </p:txBody>
      </p:sp>
      <p:sp>
        <p:nvSpPr>
          <p:cNvPr id="17432" name="stack-why-3">
            <a:extLst xmlns:a="http://schemas.openxmlformats.org/drawingml/2006/main">
              <a:ext uri="{FF2B5EF4-FFF2-40B4-BE49-F238E27FC236}">
                <a16:creationId xmlns:a16="http://schemas.microsoft.com/office/drawing/2014/main" id="{B6C33459-DDEB-4FCD-B4DA-0A557F41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05375"/>
            <a:ext cx="6267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77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Versioned metadata and vector search; law–ingredient relationships; source-document storage</a:t>
            </a:r>
          </a:p>
        </p:txBody>
      </p:sp>
      <p:sp>
        <p:nvSpPr>
          <p:cNvPr id="17433" name="stack-layer-4">
            <a:extLst xmlns:a="http://schemas.openxmlformats.org/drawingml/2006/main">
              <a:ext uri="{FF2B5EF4-FFF2-40B4-BE49-F238E27FC236}">
                <a16:creationId xmlns:a16="http://schemas.microsoft.com/office/drawing/2014/main" id="{15C48330-398E-4381-B143-B6DBB1C5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OPS + SECURITY</a:t>
            </a:r>
          </a:p>
        </p:txBody>
      </p:sp>
      <p:sp>
        <p:nvSpPr>
          <p:cNvPr id="17434" name="stack-tech-4">
            <a:extLst xmlns:a="http://schemas.openxmlformats.org/drawingml/2006/main">
              <a:ext uri="{FF2B5EF4-FFF2-40B4-BE49-F238E27FC236}">
                <a16:creationId xmlns:a16="http://schemas.microsoft.com/office/drawing/2014/main" id="{CACA6D1E-1A88-40D2-A7AC-7A6F66BB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8640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9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Redis + Docker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JWT / RBAC</a:t>
            </a:r>
          </a:p>
        </p:txBody>
      </p:sp>
      <p:sp>
        <p:nvSpPr>
          <p:cNvPr id="17435" name="stack-why-4">
            <a:extLst xmlns:a="http://schemas.openxmlformats.org/drawingml/2006/main">
              <a:ext uri="{FF2B5EF4-FFF2-40B4-BE49-F238E27FC236}">
                <a16:creationId xmlns:a16="http://schemas.microsoft.com/office/drawing/2014/main" id="{0F94ECF8-57C2-41D0-9B1F-5AA94360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86400"/>
            <a:ext cx="6267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D7E0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56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Caching and background jobs; reproducible deployment; controlled access and auditable actions</a:t>
            </a:r>
          </a:p>
        </p:txBody>
      </p:sp>
    </p:spTree>
    <p:extLst>
      <p:ext uri="{BB962C8B-B14F-4D97-AF65-F5344CB8AC3E}">
        <p14:creationId xmlns:p14="http://schemas.microsoft.com/office/powerpoint/2010/main" val="16646479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E366ED12-67A3-4217-8063-E512E633F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0"/>
            <a:ext cx="7620000" cy="1095375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KEY FEATURES AND INNOVATION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873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Naut</a:t>
            </a:r>
            <a:endParaRPr/>
          </a:p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IQ</a:t>
            </a:r>
            <a:endParaRPr/>
          </a:p>
        </p:txBody>
      </p:sp>
      <p:pic>
        <p:nvPicPr>
          <p:cNvPr id="1743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6d8be0ecb49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features-thesis">
            <a:extLst xmlns:a="http://schemas.openxmlformats.org/drawingml/2006/main">
              <a:ext uri="{FF2B5EF4-FFF2-40B4-BE49-F238E27FC236}">
                <a16:creationId xmlns:a16="http://schemas.microsoft.com/office/drawing/2014/main" id="{7CE59AB2-DC0F-426D-947D-7BFEA2AB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PROTOTYPE SHOWS A COMPLETE JOURNEY — NOT JUST A CHAT RESPONSE</a:t>
            </a:r>
          </a:p>
        </p:txBody>
      </p:sp>
      <p:sp>
        <p:nvSpPr>
          <p:cNvPr id="17413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6CBF516E-4367-46AF-9B8E-CE824DBD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WHAT THE JUDGES CAN SEE IN THE DEMO</a:t>
            </a:r>
          </a:p>
        </p:txBody>
      </p:sp>
      <p:sp>
        <p:nvSpPr>
          <p:cNvPr id="17414" name="demo-query">
            <a:extLst xmlns:a="http://schemas.openxmlformats.org/drawingml/2006/main">
              <a:ext uri="{FF2B5EF4-FFF2-40B4-BE49-F238E27FC236}">
                <a16:creationId xmlns:a16="http://schemas.microsoft.com/office/drawing/2014/main" id="{604A4BD9-DC06-4EFA-8CAC-193D94FF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981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  ASK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Text or voice query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English / Hindi</a:t>
            </a:r>
          </a:p>
        </p:txBody>
      </p:sp>
      <p:sp>
        <p:nvSpPr>
          <p:cNvPr id="17415" name="demo-passport">
            <a:extLst xmlns:a="http://schemas.openxmlformats.org/drawingml/2006/main">
              <a:ext uri="{FF2B5EF4-FFF2-40B4-BE49-F238E27FC236}">
                <a16:creationId xmlns:a16="http://schemas.microsoft.com/office/drawing/2014/main" id="{30333D9A-6F6F-42F4-8446-5374E943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19300"/>
            <a:ext cx="1981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2  BUILD PASSPORT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Ingredients • source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claims • novelty</a:t>
            </a:r>
          </a:p>
        </p:txBody>
      </p:sp>
      <p:sp>
        <p:nvSpPr>
          <p:cNvPr id="17416" name="demo-jurisdiction">
            <a:extLst xmlns:a="http://schemas.openxmlformats.org/drawingml/2006/main">
              <a:ext uri="{FF2B5EF4-FFF2-40B4-BE49-F238E27FC236}">
                <a16:creationId xmlns:a16="http://schemas.microsoft.com/office/drawing/2014/main" id="{6C72E98C-3981-4600-AB87-3DD9B137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19300"/>
            <a:ext cx="1981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3  SWITCH REGIME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India and target country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kept separate</a:t>
            </a:r>
          </a:p>
        </p:txBody>
      </p:sp>
      <p:sp>
        <p:nvSpPr>
          <p:cNvPr id="17417" name="demo-evidence">
            <a:extLst xmlns:a="http://schemas.openxmlformats.org/drawingml/2006/main">
              <a:ext uri="{FF2B5EF4-FFF2-40B4-BE49-F238E27FC236}">
                <a16:creationId xmlns:a16="http://schemas.microsoft.com/office/drawing/2014/main" id="{D27304BA-E46F-4AF1-8B73-AB52DF26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1981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4  VERIFY EVIDENCE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Primary law first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claim-to-citation gate</a:t>
            </a:r>
          </a:p>
        </p:txBody>
      </p:sp>
      <p:sp>
        <p:nvSpPr>
          <p:cNvPr id="17418" name="demo-output">
            <a:extLst xmlns:a="http://schemas.openxmlformats.org/drawingml/2006/main">
              <a:ext uri="{FF2B5EF4-FFF2-40B4-BE49-F238E27FC236}">
                <a16:creationId xmlns:a16="http://schemas.microsoft.com/office/drawing/2014/main" id="{56E9BBB7-E57F-441D-B196-8E8AB2EC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19300"/>
            <a:ext cx="1981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5  EXPORT CASE FILE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Checklist • forms • risks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expert handoff</a:t>
            </a:r>
          </a:p>
        </p:txBody>
      </p:sp>
      <p:cxnSp>
        <p:nvCxnSpPr>
          <p:cNvPr id="17440" name=""/>
          <p:cNvCxnSpPr>
            <a:stCxn xmlns:a="http://schemas.openxmlformats.org/drawingml/2006/main" id="17414" idx="3"/>
            <a:endCxn xmlns:a="http://schemas.openxmlformats.org/drawingml/2006/main" id="17415" idx="1"/>
          </p:cNvCxnSpPr>
          <p:nvPr/>
        </p:nvCxnSpPr>
        <p:spPr>
          <a:xfrm xmlns:a="http://schemas.openxmlformats.org/drawingml/2006/main">
            <a:off x="249555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41" name=""/>
          <p:cNvCxnSpPr>
            <a:stCxn xmlns:a="http://schemas.openxmlformats.org/drawingml/2006/main" id="17415" idx="3"/>
            <a:endCxn xmlns:a="http://schemas.openxmlformats.org/drawingml/2006/main" id="17416" idx="1"/>
          </p:cNvCxnSpPr>
          <p:nvPr/>
        </p:nvCxnSpPr>
        <p:spPr>
          <a:xfrm xmlns:a="http://schemas.openxmlformats.org/drawingml/2006/main">
            <a:off x="480060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42" name=""/>
          <p:cNvCxnSpPr>
            <a:stCxn xmlns:a="http://schemas.openxmlformats.org/drawingml/2006/main" id="17416" idx="3"/>
            <a:endCxn xmlns:a="http://schemas.openxmlformats.org/drawingml/2006/main" id="17417" idx="1"/>
          </p:cNvCxnSpPr>
          <p:nvPr/>
        </p:nvCxnSpPr>
        <p:spPr>
          <a:xfrm xmlns:a="http://schemas.openxmlformats.org/drawingml/2006/main">
            <a:off x="710565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43" name=""/>
          <p:cNvCxnSpPr>
            <a:stCxn xmlns:a="http://schemas.openxmlformats.org/drawingml/2006/main" id="17417" idx="3"/>
            <a:endCxn xmlns:a="http://schemas.openxmlformats.org/drawingml/2006/main" id="17418" idx="1"/>
          </p:cNvCxnSpPr>
          <p:nvPr/>
        </p:nvCxnSpPr>
        <p:spPr>
          <a:xfrm xmlns:a="http://schemas.openxmlformats.org/drawingml/2006/main">
            <a:off x="9410700" y="246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sp>
        <p:nvSpPr>
          <p:cNvPr id="17423" name="innovation-heading">
            <a:extLst xmlns:a="http://schemas.openxmlformats.org/drawingml/2006/main">
              <a:ext uri="{FF2B5EF4-FFF2-40B4-BE49-F238E27FC236}">
                <a16:creationId xmlns:a16="http://schemas.microsoft.com/office/drawing/2014/main" id="{DACE058E-65BD-4E51-ABFF-1F216225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CORE INNOVATIONS</a:t>
            </a:r>
          </a:p>
        </p:txBody>
      </p:sp>
      <p:sp>
        <p:nvSpPr>
          <p:cNvPr id="17424" name="innovation-0">
            <a:extLst xmlns:a="http://schemas.openxmlformats.org/drawingml/2006/main">
              <a:ext uri="{FF2B5EF4-FFF2-40B4-BE49-F238E27FC236}">
                <a16:creationId xmlns:a16="http://schemas.microsoft.com/office/drawing/2014/main" id="{001617C9-1771-4E68-8A8B-3B4D2133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548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133350" tIns="9525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PRODUCT-FIRST CLASSIFICATION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system asks what the formulation is before discussing patentability or licences.</a:t>
            </a:r>
          </a:p>
        </p:txBody>
      </p:sp>
      <p:sp>
        <p:nvSpPr>
          <p:cNvPr id="17425" name="innovation-1">
            <a:extLst xmlns:a="http://schemas.openxmlformats.org/drawingml/2006/main">
              <a:ext uri="{FF2B5EF4-FFF2-40B4-BE49-F238E27FC236}">
                <a16:creationId xmlns:a16="http://schemas.microsoft.com/office/drawing/2014/main" id="{29642CC2-8D20-437F-9DCE-ACB51C4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548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133350" tIns="9525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JURISDICTION FIREWALL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India and international regimes are generated and displayed as separate answer sets.</a:t>
            </a:r>
          </a:p>
        </p:txBody>
      </p:sp>
      <p:sp>
        <p:nvSpPr>
          <p:cNvPr id="17426" name="innovation-2">
            <a:extLst xmlns:a="http://schemas.openxmlformats.org/drawingml/2006/main">
              <a:ext uri="{FF2B5EF4-FFF2-40B4-BE49-F238E27FC236}">
                <a16:creationId xmlns:a16="http://schemas.microsoft.com/office/drawing/2014/main" id="{14D78B46-9B50-4A75-AA86-442A4F53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548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133350" tIns="9525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CLAIM-TO-CITATION GATE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An unsupported legal proposition is blocked; the assistant asks for facts or abstains.</a:t>
            </a:r>
          </a:p>
        </p:txBody>
      </p:sp>
      <p:sp>
        <p:nvSpPr>
          <p:cNvPr id="17427" name="innovation-3">
            <a:extLst xmlns:a="http://schemas.openxmlformats.org/drawingml/2006/main">
              <a:ext uri="{FF2B5EF4-FFF2-40B4-BE49-F238E27FC236}">
                <a16:creationId xmlns:a16="http://schemas.microsoft.com/office/drawing/2014/main" id="{968EE569-48CA-4A0D-BFDA-79A1E7A4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48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133350" tIns="9525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ACTIONABLE OUTPUT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The answer becomes a reusable case file with classifications, obligations, forms, sources and escalation.</a:t>
            </a:r>
          </a:p>
        </p:txBody>
      </p:sp>
      <p:pic>
        <p:nvPicPr>
          <p:cNvPr id="174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6549e4a02402c"/>
          <a:stretch xmlns:a="http://schemas.openxmlformats.org/drawingml/2006/main"/>
        </p:blipFill>
        <p:spPr>
          <a:xfrm xmlns:a="http://schemas.openxmlformats.org/drawingml/2006/main">
            <a:off x="9780080" y="1528"/>
            <a:ext cx="2249805" cy="1062316"/>
          </a:xfrm>
          <a:prstGeom xmlns:a="http://schemas.openxmlformats.org/drawingml/2006/main" prst="rect">
            <a:avLst/>
          </a:prstGeom>
        </p:spPr>
      </p:pic>
      <p:sp>
        <p:nvSpPr>
          <p:cNvPr id="17429" name="team-replica-4">
            <a:extLst xmlns:a="http://schemas.openxmlformats.org/drawingml/2006/main">
              <a:ext uri="{FF2B5EF4-FFF2-40B4-BE49-F238E27FC236}">
                <a16:creationId xmlns:a16="http://schemas.microsoft.com/office/drawing/2014/main" id="{299CF0A5-EA1F-4A77-8341-37E8D051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56" y="252222"/>
            <a:ext cx="1251871" cy="8073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>
            <a:normAutofit fontScale="8738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Naut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IQ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25CD443-3261-48BE-BE5A-14F7FFC75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0"/>
            <a:ext cx="7620000" cy="1095375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2" name="feasibility-thesis">
            <a:extLst xmlns:a="http://schemas.openxmlformats.org/drawingml/2006/main">
              <a:ext uri="{FF2B5EF4-FFF2-40B4-BE49-F238E27FC236}">
                <a16:creationId xmlns:a16="http://schemas.microsoft.com/office/drawing/2014/main" id="{F5BFB787-AAE7-45D1-8D85-828C7BB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FEASIBLE BECAUSE THE FIRST RELEASE USES OPEN SOURCES, RULE-BASED ROUTING AND A MODULAR STACK</a:t>
            </a:r>
          </a:p>
        </p:txBody>
      </p:sp>
      <p:sp>
        <p:nvSpPr>
          <p:cNvPr id="17413" name="proof-heading">
            <a:extLst xmlns:a="http://schemas.openxmlformats.org/drawingml/2006/main">
              <a:ext uri="{FF2B5EF4-FFF2-40B4-BE49-F238E27FC236}">
                <a16:creationId xmlns:a16="http://schemas.microsoft.com/office/drawing/2014/main" id="{EE3C151B-F465-46E3-B1C0-708712E3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WHY WE CAN BUILD IT</a:t>
            </a:r>
          </a:p>
        </p:txBody>
      </p:sp>
      <p:sp>
        <p:nvSpPr>
          <p:cNvPr id="17414" name="proof-0">
            <a:extLst xmlns:a="http://schemas.openxmlformats.org/drawingml/2006/main">
              <a:ext uri="{FF2B5EF4-FFF2-40B4-BE49-F238E27FC236}">
                <a16:creationId xmlns:a16="http://schemas.microsoft.com/office/drawing/2014/main" id="{4B30AC11-1DB3-448B-A225-7BE3EBB5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133350" tIns="76200" rIns="114300" bIns="66675" anchor="ctr">
            <a:normAutofit fontScale="90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  AUTHORITATIVE INPUTS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India Code, IP India, NBA, FSSAI, AYUSH, WIPO and public registry links</a:t>
            </a:r>
          </a:p>
        </p:txBody>
      </p:sp>
      <p:sp>
        <p:nvSpPr>
          <p:cNvPr id="17415" name="proof-1">
            <a:extLst xmlns:a="http://schemas.openxmlformats.org/drawingml/2006/main">
              <a:ext uri="{FF2B5EF4-FFF2-40B4-BE49-F238E27FC236}">
                <a16:creationId xmlns:a16="http://schemas.microsoft.com/office/drawing/2014/main" id="{67E1AC01-8CF3-4D19-A8B6-F2FA607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133350" tIns="76200" rIns="114300" bIns="66675" anchor="ctr">
            <a:normAutofit fontScale="90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2  LIMITED FIRST SCOPE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India guidance, English/Hindi and priority formulation routes before export expansion</a:t>
            </a:r>
          </a:p>
        </p:txBody>
      </p:sp>
      <p:sp>
        <p:nvSpPr>
          <p:cNvPr id="17416" name="proof-2">
            <a:extLst xmlns:a="http://schemas.openxmlformats.org/drawingml/2006/main">
              <a:ext uri="{FF2B5EF4-FFF2-40B4-BE49-F238E27FC236}">
                <a16:creationId xmlns:a16="http://schemas.microsoft.com/office/drawing/2014/main" id="{27CBE733-68BA-45B7-ADB0-66588B94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133350" tIns="76200" rIns="114300" bIns="66675" anchor="ctr">
            <a:normAutofit fontScale="90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3  RULES BEFORE GENERATION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Classification and jurisdiction routing are deterministic; RAG explains the result</a:t>
            </a:r>
          </a:p>
        </p:txBody>
      </p:sp>
      <p:sp>
        <p:nvSpPr>
          <p:cNvPr id="17417" name="proof-3">
            <a:extLst xmlns:a="http://schemas.openxmlformats.org/drawingml/2006/main">
              <a:ext uri="{FF2B5EF4-FFF2-40B4-BE49-F238E27FC236}">
                <a16:creationId xmlns:a16="http://schemas.microsoft.com/office/drawing/2014/main" id="{C6163BB8-2903-4B0F-A37D-379D13DE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133350" tIns="76200" rIns="114300" bIns="66675" anchor="ctr">
            <a:normAutofit fontScale="90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4  MODULAR DELIVERY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Each source connector, language and country module can be added independently</a:t>
            </a:r>
          </a:p>
        </p:txBody>
      </p:sp>
      <p:sp>
        <p:nvSpPr>
          <p:cNvPr id="17418" name="delivery-heading">
            <a:extLst xmlns:a="http://schemas.openxmlformats.org/drawingml/2006/main">
              <a:ext uri="{FF2B5EF4-FFF2-40B4-BE49-F238E27FC236}">
                <a16:creationId xmlns:a16="http://schemas.microsoft.com/office/drawing/2014/main" id="{FF56628C-B5D6-4A47-9E5C-4B31BA7D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577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PROTOTYPE-TO-PILOT PLAN</a:t>
            </a:r>
          </a:p>
        </p:txBody>
      </p:sp>
      <p:sp>
        <p:nvSpPr>
          <p:cNvPr id="17419" name="delivery-prototype">
            <a:extLst xmlns:a="http://schemas.openxmlformats.org/drawingml/2006/main">
              <a:ext uri="{FF2B5EF4-FFF2-40B4-BE49-F238E27FC236}">
                <a16:creationId xmlns:a16="http://schemas.microsoft.com/office/drawing/2014/main" id="{DF0C42DA-DA63-4D92-84AD-3A52B5C6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23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152400" tIns="95250" rIns="133350" bIns="76200" anchor="ctr">
            <a:normAutofit fontScale="998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SIH PROTOTYPE  •  48 HOURS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India jurisdiction • English/Hindi • representative formulation routes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Product Passport • official-source RAG • cited checklist</a:t>
            </a:r>
          </a:p>
        </p:txBody>
      </p:sp>
      <p:sp>
        <p:nvSpPr>
          <p:cNvPr id="17420" name="delivery-pilot">
            <a:extLst xmlns:a="http://schemas.openxmlformats.org/drawingml/2006/main">
              <a:ext uri="{FF2B5EF4-FFF2-40B4-BE49-F238E27FC236}">
                <a16:creationId xmlns:a16="http://schemas.microsoft.com/office/drawing/2014/main" id="{0CF36D33-0F25-45B5-900B-D10D7D00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152400" tIns="95250" rIns="133350" bIns="76200" anchor="ctr">
            <a:normAutofit fontScale="983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PILOT  •  WEEKS 1–4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All six formulation classes • ABS helper • source-update console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Expert-reviewed benchmark set and feedback loop</a:t>
            </a:r>
          </a:p>
        </p:txBody>
      </p:sp>
      <p:sp>
        <p:nvSpPr>
          <p:cNvPr id="17421" name="delivery-expansion">
            <a:extLst xmlns:a="http://schemas.openxmlformats.org/drawingml/2006/main">
              <a:ext uri="{FF2B5EF4-FFF2-40B4-BE49-F238E27FC236}">
                <a16:creationId xmlns:a16="http://schemas.microsoft.com/office/drawing/2014/main" id="{D1D0E47D-A884-4FA9-81C1-3BD3E823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19600"/>
            <a:ext cx="4667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152400" tIns="95250" rIns="133350" bIns="76200" anchor="ctr">
            <a:normAutofit fontScale="928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EXPANSION  •  WEEKS 5–12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BHASHINI voice • selected export regime • knowledge graph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Facilitator dashboard and permissioned paid-source connectors</a:t>
            </a:r>
          </a:p>
        </p:txBody>
      </p:sp>
      <p:cxnSp>
        <p:nvCxnSpPr>
          <p:cNvPr id="17436" name=""/>
          <p:cNvCxnSpPr>
            <a:stCxn xmlns:a="http://schemas.openxmlformats.org/drawingml/2006/main" id="17419" idx="2"/>
            <a:endCxn xmlns:a="http://schemas.openxmlformats.org/drawingml/2006/main" id="17420" idx="0"/>
          </p:cNvCxnSpPr>
          <p:nvPr/>
        </p:nvCxnSpPr>
        <p:spPr>
          <a:xfrm xmlns:a="http://schemas.openxmlformats.org/drawingml/2006/main">
            <a:off x="8677275" y="2990850"/>
            <a:ext cx="142875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2E7D32"/>
            </a:solidFill>
            <a:prstDash val="solid"/>
            <a:tailEnd type="triangle" w="sm" len="sm"/>
          </a:ln>
        </p:spPr>
      </p:cxnSp>
      <p:cxnSp>
        <p:nvCxnSpPr>
          <p:cNvPr id="17437" name=""/>
          <p:cNvCxnSpPr>
            <a:stCxn xmlns:a="http://schemas.openxmlformats.org/drawingml/2006/main" id="17420" idx="2"/>
            <a:endCxn xmlns:a="http://schemas.openxmlformats.org/drawingml/2006/main" id="17421" idx="0"/>
          </p:cNvCxnSpPr>
          <p:nvPr/>
        </p:nvCxnSpPr>
        <p:spPr>
          <a:xfrm xmlns:a="http://schemas.openxmlformats.org/drawingml/2006/main">
            <a:off x="8820150" y="4152900"/>
            <a:ext cx="142875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1479B8"/>
            </a:solidFill>
            <a:prstDash val="solid"/>
            <a:tailEnd type="triangle" w="sm" len="sm"/>
          </a:ln>
        </p:spPr>
      </p:cxnSp>
      <p:sp>
        <p:nvSpPr>
          <p:cNvPr id="17424" name="risk-strip">
            <a:extLst xmlns:a="http://schemas.openxmlformats.org/drawingml/2006/main">
              <a:ext uri="{FF2B5EF4-FFF2-40B4-BE49-F238E27FC236}">
                <a16:creationId xmlns:a16="http://schemas.microsoft.com/office/drawing/2014/main" id="{15EA5011-D4DC-45C2-8B82-63C537C0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78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32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RISKS AND CONTROLS  Stale law → version checks  |  unsupported answer → citation gate  |  incomplete facts → clarify / human review  |  sensitive formula → consent + encryption</a:t>
            </a:r>
          </a:p>
        </p:txBody>
      </p:sp>
    </p:spTree>
    <p:extLst>
      <p:ext uri="{BB962C8B-B14F-4D97-AF65-F5344CB8AC3E}">
        <p14:creationId xmlns:p14="http://schemas.microsoft.com/office/powerpoint/2010/main" val="16646479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E366ED12-67A3-4217-8063-E512E633F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0"/>
            <a:ext cx="7620000" cy="1095375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873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Naut</a:t>
            </a:r>
            <a:endParaRPr/>
          </a:p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IQ</a:t>
            </a:r>
            <a:endParaRPr/>
          </a:p>
        </p:txBody>
      </p:sp>
      <p:pic>
        <p:nvPicPr>
          <p:cNvPr id="1743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e100dea6a4c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impact-thesis">
            <a:extLst xmlns:a="http://schemas.openxmlformats.org/drawingml/2006/main">
              <a:ext uri="{FF2B5EF4-FFF2-40B4-BE49-F238E27FC236}">
                <a16:creationId xmlns:a16="http://schemas.microsoft.com/office/drawing/2014/main" id="{CC6ED4AE-7F50-4FD0-B1EA-8336D056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IP-SAKTI TURNS EARLY GUIDANCE INTO FASTER, SAFER COMMERCIALISATION</a:t>
            </a:r>
          </a:p>
        </p:txBody>
      </p:sp>
      <p:sp>
        <p:nvSpPr>
          <p:cNvPr id="17413" name="stakeholder-heading">
            <a:extLst xmlns:a="http://schemas.openxmlformats.org/drawingml/2006/main">
              <a:ext uri="{FF2B5EF4-FFF2-40B4-BE49-F238E27FC236}">
                <a16:creationId xmlns:a16="http://schemas.microsoft.com/office/drawing/2014/main" id="{2A782B11-8F89-4135-88C1-D6D85E9C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PRIMARY BENEFICIARIES</a:t>
            </a:r>
          </a:p>
        </p:txBody>
      </p:sp>
      <p:sp>
        <p:nvSpPr>
          <p:cNvPr id="17414" name="stakeholder-0">
            <a:extLst xmlns:a="http://schemas.openxmlformats.org/drawingml/2006/main">
              <a:ext uri="{FF2B5EF4-FFF2-40B4-BE49-F238E27FC236}">
                <a16:creationId xmlns:a16="http://schemas.microsoft.com/office/drawing/2014/main" id="{2CB15F51-837D-4B2B-9E0A-952B6ECD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AYUSH practitioners</a:t>
            </a:r>
          </a:p>
        </p:txBody>
      </p:sp>
      <p:sp>
        <p:nvSpPr>
          <p:cNvPr id="17415" name="stakeholder-1">
            <a:extLst xmlns:a="http://schemas.openxmlformats.org/drawingml/2006/main">
              <a:ext uri="{FF2B5EF4-FFF2-40B4-BE49-F238E27FC236}">
                <a16:creationId xmlns:a16="http://schemas.microsoft.com/office/drawing/2014/main" id="{CF6D818C-8291-4DB8-85D7-DC82BE1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240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Startups and MSMEs</a:t>
            </a:r>
          </a:p>
        </p:txBody>
      </p:sp>
      <p:sp>
        <p:nvSpPr>
          <p:cNvPr id="17416" name="stakeholder-2">
            <a:extLst xmlns:a="http://schemas.openxmlformats.org/drawingml/2006/main">
              <a:ext uri="{FF2B5EF4-FFF2-40B4-BE49-F238E27FC236}">
                <a16:creationId xmlns:a16="http://schemas.microsoft.com/office/drawing/2014/main" id="{E9E5595B-7989-485A-BD43-BB3AB0C1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Researchers and cultivators</a:t>
            </a:r>
          </a:p>
        </p:txBody>
      </p:sp>
      <p:sp>
        <p:nvSpPr>
          <p:cNvPr id="17417" name="stakeholder-3">
            <a:extLst xmlns:a="http://schemas.openxmlformats.org/drawingml/2006/main">
              <a:ext uri="{FF2B5EF4-FFF2-40B4-BE49-F238E27FC236}">
                <a16:creationId xmlns:a16="http://schemas.microsoft.com/office/drawing/2014/main" id="{7E14E779-B92A-4E3B-B462-1950A8AF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240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IP facilitators and regulators</a:t>
            </a:r>
          </a:p>
        </p:txBody>
      </p:sp>
      <p:sp>
        <p:nvSpPr>
          <p:cNvPr id="17418" name="outcome-heading">
            <a:extLst xmlns:a="http://schemas.openxmlformats.org/drawingml/2006/main">
              <a:ext uri="{FF2B5EF4-FFF2-40B4-BE49-F238E27FC236}">
                <a16:creationId xmlns:a16="http://schemas.microsoft.com/office/drawing/2014/main" id="{57152002-504A-4069-BD70-6A54F24A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IMPACT PATHWAY</a:t>
            </a:r>
          </a:p>
        </p:txBody>
      </p:sp>
      <p:sp>
        <p:nvSpPr>
          <p:cNvPr id="17419" name="outcome-0">
            <a:extLst xmlns:a="http://schemas.openxmlformats.org/drawingml/2006/main">
              <a:ext uri="{FF2B5EF4-FFF2-40B4-BE49-F238E27FC236}">
                <a16:creationId xmlns:a16="http://schemas.microsoft.com/office/drawing/2014/main" id="{33870850-16FD-45B4-9D27-3691DE4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CORRECT ROUTE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Classify the formulation</a:t>
            </a:r>
          </a:p>
        </p:txBody>
      </p:sp>
      <p:sp>
        <p:nvSpPr>
          <p:cNvPr id="17420" name="outcome-1">
            <a:extLst xmlns:a="http://schemas.openxmlformats.org/drawingml/2006/main">
              <a:ext uri="{FF2B5EF4-FFF2-40B4-BE49-F238E27FC236}">
                <a16:creationId xmlns:a16="http://schemas.microsoft.com/office/drawing/2014/main" id="{8C8295AF-ECF4-4ABE-8451-09478789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RIGHT PROTECTION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Patent, brand, design, GI or secret</a:t>
            </a:r>
          </a:p>
        </p:txBody>
      </p:sp>
      <p:sp>
        <p:nvSpPr>
          <p:cNvPr id="17421" name="outcome-2">
            <a:extLst xmlns:a="http://schemas.openxmlformats.org/drawingml/2006/main">
              <a:ext uri="{FF2B5EF4-FFF2-40B4-BE49-F238E27FC236}">
                <a16:creationId xmlns:a16="http://schemas.microsoft.com/office/drawing/2014/main" id="{2AE8B663-8512-464D-9970-94A6D924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EARLY ABS / TK CHECK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Spot access and provenance duties</a:t>
            </a:r>
          </a:p>
        </p:txBody>
      </p:sp>
      <p:sp>
        <p:nvSpPr>
          <p:cNvPr id="17422" name="outcome-3">
            <a:extLst xmlns:a="http://schemas.openxmlformats.org/drawingml/2006/main">
              <a:ext uri="{FF2B5EF4-FFF2-40B4-BE49-F238E27FC236}">
                <a16:creationId xmlns:a16="http://schemas.microsoft.com/office/drawing/2014/main" id="{30D4E102-32AB-475F-836F-BEB10656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CITED CASE FILE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Forms, risks and next actions</a:t>
            </a:r>
          </a:p>
        </p:txBody>
      </p:sp>
      <p:sp>
        <p:nvSpPr>
          <p:cNvPr id="17423" name="outcome-4">
            <a:extLst xmlns:a="http://schemas.openxmlformats.org/drawingml/2006/main">
              <a:ext uri="{FF2B5EF4-FFF2-40B4-BE49-F238E27FC236}">
                <a16:creationId xmlns:a16="http://schemas.microsoft.com/office/drawing/2014/main" id="{A3DD0D8C-0043-4AB4-81C1-FA6065CA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05150"/>
            <a:ext cx="1943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22860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SAFER MARKET ENTRY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India and selected export regime</a:t>
            </a:r>
          </a:p>
        </p:txBody>
      </p:sp>
      <p:cxnSp>
        <p:nvCxnSpPr>
          <p:cNvPr id="17448" name=""/>
          <p:cNvCxnSpPr>
            <a:stCxn xmlns:a="http://schemas.openxmlformats.org/drawingml/2006/main" id="17419" idx="3"/>
            <a:endCxn xmlns:a="http://schemas.openxmlformats.org/drawingml/2006/main" id="17420" idx="1"/>
          </p:cNvCxnSpPr>
          <p:nvPr/>
        </p:nvCxnSpPr>
        <p:spPr>
          <a:xfrm xmlns:a="http://schemas.openxmlformats.org/drawingml/2006/main">
            <a:off x="2457450" y="35623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49" name=""/>
          <p:cNvCxnSpPr>
            <a:stCxn xmlns:a="http://schemas.openxmlformats.org/drawingml/2006/main" id="17420" idx="3"/>
            <a:endCxn xmlns:a="http://schemas.openxmlformats.org/drawingml/2006/main" id="17421" idx="1"/>
          </p:cNvCxnSpPr>
          <p:nvPr/>
        </p:nvCxnSpPr>
        <p:spPr>
          <a:xfrm xmlns:a="http://schemas.openxmlformats.org/drawingml/2006/main">
            <a:off x="4724400" y="35623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50" name=""/>
          <p:cNvCxnSpPr>
            <a:stCxn xmlns:a="http://schemas.openxmlformats.org/drawingml/2006/main" id="17421" idx="3"/>
            <a:endCxn xmlns:a="http://schemas.openxmlformats.org/drawingml/2006/main" id="17422" idx="1"/>
          </p:cNvCxnSpPr>
          <p:nvPr/>
        </p:nvCxnSpPr>
        <p:spPr>
          <a:xfrm xmlns:a="http://schemas.openxmlformats.org/drawingml/2006/main">
            <a:off x="6991350" y="35623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7451" name=""/>
          <p:cNvCxnSpPr>
            <a:stCxn xmlns:a="http://schemas.openxmlformats.org/drawingml/2006/main" id="17422" idx="3"/>
            <a:endCxn xmlns:a="http://schemas.openxmlformats.org/drawingml/2006/main" id="17423" idx="1"/>
          </p:cNvCxnSpPr>
          <p:nvPr/>
        </p:nvCxnSpPr>
        <p:spPr>
          <a:xfrm xmlns:a="http://schemas.openxmlformats.org/drawingml/2006/main">
            <a:off x="9258300" y="35623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F4E79"/>
            </a:solidFill>
            <a:prstDash val="solid"/>
            <a:tailEnd type="triangle" w="sm" len="sm"/>
          </a:ln>
        </p:spPr>
      </p:cxnSp>
      <p:sp>
        <p:nvSpPr>
          <p:cNvPr id="17428" name="measures-heading">
            <a:extLst xmlns:a="http://schemas.openxmlformats.org/drawingml/2006/main">
              <a:ext uri="{FF2B5EF4-FFF2-40B4-BE49-F238E27FC236}">
                <a16:creationId xmlns:a16="http://schemas.microsoft.com/office/drawing/2014/main" id="{CFB91777-4446-4533-AEB0-E921BF19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PROPOSED PILOT SUCCESS MEASURES</a:t>
            </a:r>
          </a:p>
        </p:txBody>
      </p:sp>
      <p:sp>
        <p:nvSpPr>
          <p:cNvPr id="17429" name="measure-0">
            <a:extLst xmlns:a="http://schemas.openxmlformats.org/drawingml/2006/main">
              <a:ext uri="{FF2B5EF4-FFF2-40B4-BE49-F238E27FC236}">
                <a16:creationId xmlns:a16="http://schemas.microsoft.com/office/drawing/2014/main" id="{66F4CACA-EF43-4AB1-B0B1-533DC92E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479B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≥90%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classification agreement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with expert-reviewed cases</a:t>
            </a:r>
          </a:p>
        </p:txBody>
      </p:sp>
      <p:sp>
        <p:nvSpPr>
          <p:cNvPr id="17430" name="measure-1">
            <a:extLst xmlns:a="http://schemas.openxmlformats.org/drawingml/2006/main">
              <a:ext uri="{FF2B5EF4-FFF2-40B4-BE49-F238E27FC236}">
                <a16:creationId xmlns:a16="http://schemas.microsoft.com/office/drawing/2014/main" id="{E096166D-B1BC-4BC5-B42B-1B445925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62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≥95%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citation correctness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for legal claims</a:t>
            </a:r>
          </a:p>
        </p:txBody>
      </p:sp>
      <p:sp>
        <p:nvSpPr>
          <p:cNvPr id="17431" name="measure-2">
            <a:extLst xmlns:a="http://schemas.openxmlformats.org/drawingml/2006/main">
              <a:ext uri="{FF2B5EF4-FFF2-40B4-BE49-F238E27FC236}">
                <a16:creationId xmlns:a16="http://schemas.microsoft.com/office/drawing/2014/main" id="{11A85E4F-01C2-4125-A1BE-6C4C2FEE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62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India / international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jurisdiction mixing</a:t>
            </a:r>
          </a:p>
        </p:txBody>
      </p:sp>
      <p:sp>
        <p:nvSpPr>
          <p:cNvPr id="17432" name="measure-3">
            <a:extLst xmlns:a="http://schemas.openxmlformats.org/drawingml/2006/main">
              <a:ext uri="{FF2B5EF4-FFF2-40B4-BE49-F238E27FC236}">
                <a16:creationId xmlns:a16="http://schemas.microsoft.com/office/drawing/2014/main" id="{687096B0-52C4-47BD-9722-ED5C1844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E6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100%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high-risk and incomplete cases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show escalation path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2D6E4E5-1B00-4E31-96ED-F3FD025A4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0"/>
            <a:ext cx="7620000" cy="1095375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17412" name="references-thesis">
            <a:extLst xmlns:a="http://schemas.openxmlformats.org/drawingml/2006/main">
              <a:ext uri="{FF2B5EF4-FFF2-40B4-BE49-F238E27FC236}">
                <a16:creationId xmlns:a16="http://schemas.microsoft.com/office/drawing/2014/main" id="{25F3CDD0-7B54-4399-BA12-776AA27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OFFICIAL SOURCES USED FOR THE PROPOSED CORPUS AND REGULATORY ROUTING</a:t>
            </a:r>
          </a:p>
        </p:txBody>
      </p:sp>
      <p:sp>
        <p:nvSpPr>
          <p:cNvPr id="17413" name="source-01">
            <a:extLst xmlns:a="http://schemas.openxmlformats.org/drawingml/2006/main">
              <a:ext uri="{FF2B5EF4-FFF2-40B4-BE49-F238E27FC236}">
                <a16:creationId xmlns:a16="http://schemas.microsoft.com/office/drawing/2014/main" id="{21C97158-D2DE-4D66-B0F6-598D0418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25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33350" tIns="85725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01.  The Patents Act, 1970 — India Code</a:t>
            </a:r>
          </a:p>
          <a:p xmlns:a="http://schemas.openxmlformats.org/drawingml/2006/main">
            <a:pPr algn="l"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u="sng">
                <a:solidFill>
                  <a:srgbClr val="17212B"/>
                </a:solidFill>
                <a:latin typeface="Arial"/>
                <a:ea typeface="Arial"/>
                <a:cs typeface="Arial"/>
                <a:hlinkClick xmlns:r="http://schemas.openxmlformats.org/officeDocument/2006/relationships" r:id="R5a757659f470413d"/>
              </a:rPr>
              <a:t>indiacode.nic.in/handle/123456789/1392</a:t>
            </a:r>
          </a:p>
        </p:txBody>
      </p:sp>
      <p:sp>
        <p:nvSpPr>
          <p:cNvPr id="17414" name="source-02">
            <a:extLst xmlns:a="http://schemas.openxmlformats.org/drawingml/2006/main">
              <a:ext uri="{FF2B5EF4-FFF2-40B4-BE49-F238E27FC236}">
                <a16:creationId xmlns:a16="http://schemas.microsoft.com/office/drawing/2014/main" id="{80DC7733-8894-4537-AA04-7953E3D1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25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33350" tIns="85725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02.  Patent Rules and amendments — IP India</a:t>
            </a:r>
          </a:p>
          <a:p xmlns:a="http://schemas.openxmlformats.org/drawingml/2006/main">
            <a:pPr algn="l"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u="sng">
                <a:solidFill>
                  <a:srgbClr val="17212B"/>
                </a:solidFill>
                <a:latin typeface="Arial"/>
                <a:ea typeface="Arial"/>
                <a:cs typeface="Arial"/>
                <a:hlinkClick xmlns:r="http://schemas.openxmlformats.org/officeDocument/2006/relationships" r:id="R0802c20b72944486"/>
              </a:rPr>
              <a:t>ipindia.gov.in/resource/patents-resources-rules</a:t>
            </a:r>
          </a:p>
        </p:txBody>
      </p:sp>
      <p:sp>
        <p:nvSpPr>
          <p:cNvPr id="17415" name="source-03">
            <a:extLst xmlns:a="http://schemas.openxmlformats.org/drawingml/2006/main">
              <a:ext uri="{FF2B5EF4-FFF2-40B4-BE49-F238E27FC236}">
                <a16:creationId xmlns:a16="http://schemas.microsoft.com/office/drawing/2014/main" id="{F17E028A-D7E2-4CC2-BB51-3C1A7819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525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33350" tIns="85725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03.  Biological diversity and ABS — NBA</a:t>
            </a:r>
          </a:p>
          <a:p xmlns:a="http://schemas.openxmlformats.org/drawingml/2006/main">
            <a:pPr algn="l"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u="sng">
                <a:solidFill>
                  <a:srgbClr val="17212B"/>
                </a:solidFill>
                <a:latin typeface="Arial"/>
                <a:ea typeface="Arial"/>
                <a:cs typeface="Arial"/>
                <a:hlinkClick xmlns:r="http://schemas.openxmlformats.org/officeDocument/2006/relationships" r:id="Rd31d35e2b06741dd"/>
              </a:rPr>
              <a:t>nbaindia.org</a:t>
            </a:r>
          </a:p>
        </p:txBody>
      </p:sp>
      <p:sp>
        <p:nvSpPr>
          <p:cNvPr id="17416" name="source-04">
            <a:extLst xmlns:a="http://schemas.openxmlformats.org/drawingml/2006/main">
              <a:ext uri="{FF2B5EF4-FFF2-40B4-BE49-F238E27FC236}">
                <a16:creationId xmlns:a16="http://schemas.microsoft.com/office/drawing/2014/main" id="{3543496F-E81B-40F1-B0D6-39D38496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25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33350" tIns="85725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04.  Drugs and Cosmetics Act / Rules — AYUSH</a:t>
            </a:r>
          </a:p>
          <a:p xmlns:a="http://schemas.openxmlformats.org/drawingml/2006/main">
            <a:pPr algn="l"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u="sng">
                <a:solidFill>
                  <a:srgbClr val="17212B"/>
                </a:solidFill>
                <a:latin typeface="Arial"/>
                <a:ea typeface="Arial"/>
                <a:cs typeface="Arial"/>
                <a:hlinkClick xmlns:r="http://schemas.openxmlformats.org/officeDocument/2006/relationships" r:id="Rbc6fbac183184016"/>
              </a:rPr>
              <a:t>ayush.gov.in/resources/quality-standards</a:t>
            </a:r>
          </a:p>
        </p:txBody>
      </p:sp>
      <p:sp>
        <p:nvSpPr>
          <p:cNvPr id="17417" name="source-05">
            <a:extLst xmlns:a="http://schemas.openxmlformats.org/drawingml/2006/main">
              <a:ext uri="{FF2B5EF4-FFF2-40B4-BE49-F238E27FC236}">
                <a16:creationId xmlns:a16="http://schemas.microsoft.com/office/drawing/2014/main" id="{6DFDE9AA-BDDA-4269-99DB-724779FB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525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33350" tIns="85725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05.  Ayurveda Aahara Regulations, 2022 — FSSAI</a:t>
            </a:r>
          </a:p>
          <a:p xmlns:a="http://schemas.openxmlformats.org/drawingml/2006/main">
            <a:pPr algn="l"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u="sng">
                <a:solidFill>
                  <a:srgbClr val="17212B"/>
                </a:solidFill>
                <a:latin typeface="Arial"/>
                <a:ea typeface="Arial"/>
                <a:cs typeface="Arial"/>
                <a:hlinkClick xmlns:r="http://schemas.openxmlformats.org/officeDocument/2006/relationships" r:id="R6d19f69acd774a86"/>
              </a:rPr>
              <a:t>fssai.gov.in</a:t>
            </a:r>
          </a:p>
        </p:txBody>
      </p:sp>
      <p:sp>
        <p:nvSpPr>
          <p:cNvPr id="17418" name="source-06">
            <a:extLst xmlns:a="http://schemas.openxmlformats.org/drawingml/2006/main">
              <a:ext uri="{FF2B5EF4-FFF2-40B4-BE49-F238E27FC236}">
                <a16:creationId xmlns:a16="http://schemas.microsoft.com/office/drawing/2014/main" id="{6B211019-63C1-4CFF-A34B-721076A6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525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33350" tIns="85725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06.  Traditional Knowledge Digital Library — CSIR</a:t>
            </a:r>
          </a:p>
          <a:p xmlns:a="http://schemas.openxmlformats.org/drawingml/2006/main">
            <a:pPr algn="l"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u="sng">
                <a:solidFill>
                  <a:srgbClr val="17212B"/>
                </a:solidFill>
                <a:latin typeface="Arial"/>
                <a:ea typeface="Arial"/>
                <a:cs typeface="Arial"/>
                <a:hlinkClick xmlns:r="http://schemas.openxmlformats.org/officeDocument/2006/relationships" r:id="R5daa16ba54f94e91"/>
              </a:rPr>
              <a:t>tkdl.res.in</a:t>
            </a:r>
          </a:p>
        </p:txBody>
      </p:sp>
      <p:sp>
        <p:nvSpPr>
          <p:cNvPr id="17419" name="source-07">
            <a:extLst xmlns:a="http://schemas.openxmlformats.org/drawingml/2006/main">
              <a:ext uri="{FF2B5EF4-FFF2-40B4-BE49-F238E27FC236}">
                <a16:creationId xmlns:a16="http://schemas.microsoft.com/office/drawing/2014/main" id="{C47B0186-3B08-4362-8BCE-B7C960C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525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33350" tIns="85725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07.  WIPO GRATK Treaty and treaty status — WIPO</a:t>
            </a:r>
          </a:p>
          <a:p xmlns:a="http://schemas.openxmlformats.org/drawingml/2006/main">
            <a:pPr algn="l"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u="sng">
                <a:solidFill>
                  <a:srgbClr val="17212B"/>
                </a:solidFill>
                <a:latin typeface="Arial"/>
                <a:ea typeface="Arial"/>
                <a:cs typeface="Arial"/>
                <a:hlinkClick xmlns:r="http://schemas.openxmlformats.org/officeDocument/2006/relationships" r:id="Rb4052d3fb652440c"/>
              </a:rPr>
              <a:t>wipo.int/en/web/treaties/ip/gratk</a:t>
            </a:r>
          </a:p>
        </p:txBody>
      </p:sp>
      <p:sp>
        <p:nvSpPr>
          <p:cNvPr id="17420" name="source-08">
            <a:extLst xmlns:a="http://schemas.openxmlformats.org/drawingml/2006/main">
              <a:ext uri="{FF2B5EF4-FFF2-40B4-BE49-F238E27FC236}">
                <a16:creationId xmlns:a16="http://schemas.microsoft.com/office/drawing/2014/main" id="{2CEAF5B9-5449-4662-A28C-F335CDF9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5257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8"/>
            </a:solidFill>
            <a:prstDash val="solid"/>
          </a:ln>
        </p:spPr>
        <p:txBody>
          <a:bodyPr xmlns:a="http://schemas.openxmlformats.org/drawingml/2006/main" lIns="133350" tIns="85725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08.  National Language Translation Mission — BHASHINI</a:t>
            </a:r>
          </a:p>
          <a:p xmlns:a="http://schemas.openxmlformats.org/drawingml/2006/main">
            <a:pPr algn="l">
              <a:defRPr sz="1238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38" u="sng">
                <a:solidFill>
                  <a:srgbClr val="17212B"/>
                </a:solidFill>
                <a:latin typeface="Arial"/>
                <a:ea typeface="Arial"/>
                <a:cs typeface="Arial"/>
                <a:hlinkClick xmlns:r="http://schemas.openxmlformats.org/officeDocument/2006/relationships" r:id="Rb755f423b60443dd"/>
              </a:rPr>
              <a:t>bhashini.gov.in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2026-09-01T08:25:18.3460000Z</dcterms:created>
  <dcterms:modified xsi:type="dcterms:W3CDTF">2026-09-01T08:25:18.3460000Z</dcterms:modified>
</coreProperties>
</file>