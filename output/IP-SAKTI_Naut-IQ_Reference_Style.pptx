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513b27018248aa" /><Relationship Type="http://schemas.openxmlformats.org/officeDocument/2006/relationships/extended-properties" Target="/docProps/app.xml" Id="R7560ab7312b94796" /><Relationship Type="http://schemas.openxmlformats.org/officeDocument/2006/relationships/officeDocument" Target="/ppt/presentation.xml" Id="Rbbbf90a6e55145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fc12f8b6ec4274"/>
  </p:sldMasterIdLst>
  <p:notesMasterIdLst>
    <p:notesMasterId xmlns:r="http://schemas.openxmlformats.org/officeDocument/2006/relationships" r:id="Rd1c6563cf75946a5"/>
  </p:notesMasterIdLst>
  <p:sldIdLst>
    <p:sldId xmlns:r="http://schemas.openxmlformats.org/officeDocument/2006/relationships" id="256" r:id="Rc2f67bdc41aa43a5"/>
    <p:sldId xmlns:r="http://schemas.openxmlformats.org/officeDocument/2006/relationships" id="257" r:id="R674d663ed5e84ff3"/>
    <p:sldId xmlns:r="http://schemas.openxmlformats.org/officeDocument/2006/relationships" id="258" r:id="Ra46f5f870cea42f9"/>
    <p:sldId xmlns:r="http://schemas.openxmlformats.org/officeDocument/2006/relationships" id="259" r:id="Re11b5d3587da432a"/>
    <p:sldId xmlns:r="http://schemas.openxmlformats.org/officeDocument/2006/relationships" id="260" r:id="Rf016fc0d2b1d4df5"/>
    <p:sldId xmlns:r="http://schemas.openxmlformats.org/officeDocument/2006/relationships" id="261" r:id="R0cf85c3e94134929"/>
    <p:sldId xmlns:r="http://schemas.openxmlformats.org/officeDocument/2006/relationships" id="262" r:id="R4b7574e4f4d94d26"/>
    <p:sldId xmlns:r="http://schemas.openxmlformats.org/officeDocument/2006/relationships" id="263" r:id="R800b746ca57e481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3e1227ae55495a" /><Relationship Type="http://schemas.openxmlformats.org/officeDocument/2006/relationships/slideMaster" Target="/ppt/slideMasters/slideMaster1.xml" Id="R36fc12f8b6ec4274" /><Relationship Type="http://schemas.openxmlformats.org/officeDocument/2006/relationships/notesMaster" Target="/ppt/notesMasters/notesMaster1.xml" Id="Rd1c6563cf75946a5" /><Relationship Type="http://schemas.openxmlformats.org/officeDocument/2006/relationships/presProps" Target="/ppt/presProps.xml" Id="R29a2bb24d39f4ad5" /><Relationship Type="http://schemas.openxmlformats.org/officeDocument/2006/relationships/tableStyles" Target="/ppt/tableStyles.xml" Id="Rcfdf5da9eb7d4a4c" /><Relationship Type="http://schemas.openxmlformats.org/officeDocument/2006/relationships/slide" Target="/ppt/slides/slide1.xml" Id="Rc2f67bdc41aa43a5" /><Relationship Type="http://schemas.openxmlformats.org/officeDocument/2006/relationships/slide" Target="/ppt/slides/slide2.xml" Id="R674d663ed5e84ff3" /><Relationship Type="http://schemas.openxmlformats.org/officeDocument/2006/relationships/slide" Target="/ppt/slides/slide3.xml" Id="Ra46f5f870cea42f9" /><Relationship Type="http://schemas.openxmlformats.org/officeDocument/2006/relationships/slide" Target="/ppt/slides/slide4.xml" Id="Re11b5d3587da432a" /><Relationship Type="http://schemas.openxmlformats.org/officeDocument/2006/relationships/slide" Target="/ppt/slides/slide5.xml" Id="Rf016fc0d2b1d4df5" /><Relationship Type="http://schemas.openxmlformats.org/officeDocument/2006/relationships/slide" Target="/ppt/slides/slide6.xml" Id="R0cf85c3e94134929" /><Relationship Type="http://schemas.openxmlformats.org/officeDocument/2006/relationships/slide" Target="/ppt/slides/slide7.xml" Id="R4b7574e4f4d94d26" /><Relationship Type="http://schemas.openxmlformats.org/officeDocument/2006/relationships/slide" Target="/ppt/slides/slide8.xml" Id="R800b746ca57e48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0c96cb3f6a4c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d5e169ea4e4200" /><Relationship Type="http://schemas.openxmlformats.org/officeDocument/2006/relationships/notesMaster" Target="/ppt/notesMasters/notesMaster1.xml" Id="Rd9ffba0d90004d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2a601c539c4b71" /><Relationship Type="http://schemas.openxmlformats.org/officeDocument/2006/relationships/notesMaster" Target="/ppt/notesMasters/notesMaster1.xml" Id="Rea6d208790fa4f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42ef35f6a6482a" /><Relationship Type="http://schemas.openxmlformats.org/officeDocument/2006/relationships/notesMaster" Target="/ppt/notesMasters/notesMaster1.xml" Id="Rc4903f91d55542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5c73c318334da5" /><Relationship Type="http://schemas.openxmlformats.org/officeDocument/2006/relationships/notesMaster" Target="/ppt/notesMasters/notesMaster1.xml" Id="Rbaea428416474e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4971ed156c4258" /><Relationship Type="http://schemas.openxmlformats.org/officeDocument/2006/relationships/notesMaster" Target="/ppt/notesMasters/notesMaster1.xml" Id="R46d7cc70e32c4a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c7dd7167e14150" /><Relationship Type="http://schemas.openxmlformats.org/officeDocument/2006/relationships/notesMaster" Target="/ppt/notesMasters/notesMaster1.xml" Id="R28dec461600841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2a824cf3d74d3c" /><Relationship Type="http://schemas.openxmlformats.org/officeDocument/2006/relationships/notesMaster" Target="/ppt/notesMasters/notesMaster1.xml" Id="R53da3a76d9314b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0d57dd494e478b" /><Relationship Type="http://schemas.openxmlformats.org/officeDocument/2006/relationships/notesMaster" Target="/ppt/notesMasters/notesMaster1.xml" Id="R8b3b5fc94c1a49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The reference supplies the requested colours and format. The SIH logo is retained as event identification. Product copy describes IP-SAKTI and user-supplied AYUNEX screenshots. AYUNEX branding comes from the user-supplied interface screenshots. Team ID remains unassigned.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The reference supplies the requested colours and format. The SIH logo is retained as event identification. Product copy describes IP-SAKTI and user-supplied AYUNEX screenshots. Original user screenshot: AYUNEX landing page. Full screenshot embedded unchanged as a separate image over an original generated laptop frame. General questions bypass Product Passport. Output coverage continues on the workflow and features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The reference supplies the requested colours and format. The SIH logo is retained as event identification. Product copy describes IP-SAKTI and user-supplied AYUNEX screenshots. Product and general-information paths are alternatives. Product assessment requires relevant confirmed facts. Every final response passes the evidence gate. Retrieval repair is limited to one attempt.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The reference supplies the requested colours and format. The SIH logo is retained as event identification. Product copy describes IP-SAKTI and user-supplied AYUNEX screenshots. Proposed stack, not a statement of achieved performance or complete implementation. BHASHINI access and data handling require validation. https://arxiv.org/abs/2402.03216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The reference supplies the requested colours and format. The SIH logo is retained as event identification. Product copy describes IP-SAKTI and user-supplied AYUNEX screenshots. The screenshot is a source directory, not evidence of a verified production corpus. Original user-supplied knowledge-base image embedded unchanged. Claim-verification design is proposed. https://aclanthology.org/2023.emnlp-main.398/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The reference supplies the requested colours and format. The SIH logo is retained as event identification. Product copy describes IP-SAKTI and user-supplied AYUNEX screenshots. 30 reviewed cases and about 150 base cases are planned coverage. 95% citation support and 90% required-abstention recall are acceptance targets, not reported results. Source permissions and reviewer availability are prerequisites.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The reference supplies the requested colours and format. The SIH logo is retained as event identification. Product copy describes IP-SAKTI and user-supplied AYUNEX screenshots. Expected benefits require pilot validation. No claims of measured savings, guaranteed compliance, patent grants or successful market entry. TK means traditional knowledge.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adapted from the supplied 26045_SIH_NAUT_IQ_Enhanced.pptx and docs/IP-SAKTI_DETAILED_IDEA.md. Proposed capabilities and pilot targets, not claims of achieved performance. Layout inspiration: supplied SIH26169 - FINAL.pdf. The reference supplies the requested colours and format. The SIH logo is retained as event identification. Product copy describes IP-SAKTI and user-supplied AYUNEX screenshots. Sources carried forward from the user’s deck; this redesign is not a legal currency audit. Additional official destinations: https://www.ipindia.gov.in/ https://fssai.gov.in/ https://www.tkdl.res.in/ https://bhashini.gov.in/ . Research supports individual design choices, not a proven best complete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2d408b04d49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de66163be24f66" /><Relationship Type="http://schemas.openxmlformats.org/officeDocument/2006/relationships/slideLayout" Target="/ppt/slideLayouts/slideLayout1.xml" Id="Rf8cf778e157943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cf778e157943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30640bfd54ed2" /><Relationship Type="http://schemas.openxmlformats.org/officeDocument/2006/relationships/image" Target="/ppt/media/image.png" Id="Rd92df4925e354ad4" /><Relationship Type="http://schemas.openxmlformats.org/officeDocument/2006/relationships/image" Target="/ppt/media/image2.png" Id="Rb879000ef8ae4680" /><Relationship Type="http://schemas.openxmlformats.org/officeDocument/2006/relationships/notesSlide" Target="/ppt/notesSlides/notesSlide1.xml" Id="R2cc210c71ba645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f3bdd8e0e434a" /><Relationship Type="http://schemas.openxmlformats.org/officeDocument/2006/relationships/image" Target="/ppt/media/image3.png" Id="Rba0fd2583b804596" /><Relationship Type="http://schemas.openxmlformats.org/officeDocument/2006/relationships/image" Target="/ppt/media/image4.png" Id="R000ff4938e134550" /><Relationship Type="http://schemas.openxmlformats.org/officeDocument/2006/relationships/image" Target="/ppt/media/image5.png" Id="R0354067cfa674fcf" /><Relationship Type="http://schemas.openxmlformats.org/officeDocument/2006/relationships/notesSlide" Target="/ppt/notesSlides/notesSlide2.xml" Id="R66b2cf4a034544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7f3eeb45a43fa" /><Relationship Type="http://schemas.openxmlformats.org/officeDocument/2006/relationships/image" Target="/ppt/media/image6.png" Id="Rec3a600016de4048" /><Relationship Type="http://schemas.openxmlformats.org/officeDocument/2006/relationships/notesSlide" Target="/ppt/notesSlides/notesSlide3.xml" Id="R0b705e0546f34a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c5febab0a4fae" /><Relationship Type="http://schemas.openxmlformats.org/officeDocument/2006/relationships/image" Target="/ppt/media/image7.png" Id="Rcebc0ce9e30946c0" /><Relationship Type="http://schemas.openxmlformats.org/officeDocument/2006/relationships/notesSlide" Target="/ppt/notesSlides/notesSlide4.xml" Id="Ra496ab18dbe74c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37decc88c4131" /><Relationship Type="http://schemas.openxmlformats.org/officeDocument/2006/relationships/image" Target="/ppt/media/image8.png" Id="R8f78be630d984210" /><Relationship Type="http://schemas.openxmlformats.org/officeDocument/2006/relationships/image" Target="/ppt/media/image9.png" Id="R1ac1881fcf3945fd" /><Relationship Type="http://schemas.openxmlformats.org/officeDocument/2006/relationships/image" Target="/ppt/media/image10.png" Id="R41bde0ce1f184d40" /><Relationship Type="http://schemas.openxmlformats.org/officeDocument/2006/relationships/notesSlide" Target="/ppt/notesSlides/notesSlide5.xml" Id="R2324c76e2a2742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855e0955a4378" /><Relationship Type="http://schemas.openxmlformats.org/officeDocument/2006/relationships/image" Target="/ppt/media/image11.png" Id="R197c5ae8f1b748d1" /><Relationship Type="http://schemas.openxmlformats.org/officeDocument/2006/relationships/notesSlide" Target="/ppt/notesSlides/notesSlide6.xml" Id="Rdb316b03c11045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450568f934bc7" /><Relationship Type="http://schemas.openxmlformats.org/officeDocument/2006/relationships/image" Target="/ppt/media/image12.png" Id="Rc0d9ced3606d4d67" /><Relationship Type="http://schemas.openxmlformats.org/officeDocument/2006/relationships/notesSlide" Target="/ppt/notesSlides/notesSlide7.xml" Id="R35407d0923ab47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48bf68d814b07" /><Relationship Type="http://schemas.openxmlformats.org/officeDocument/2006/relationships/image" Target="/ppt/media/image13.png" Id="R457ecc164aff46fb" /><Relationship Type="http://schemas.openxmlformats.org/officeDocument/2006/relationships/hyperlink" Target="https://www.indiacode.nic.in/handle/123456789/1392" TargetMode="External" Id="Rb763beac38d74604" /><Relationship Type="http://schemas.openxmlformats.org/officeDocument/2006/relationships/hyperlink" Target="https://www.cdsco.gov.in/opencms/opencms/en/Traditional_Drugs/" TargetMode="External" Id="R23c7a3b486954ac3" /><Relationship Type="http://schemas.openxmlformats.org/officeDocument/2006/relationships/hyperlink" Target="https://nbaindia.nic.in/public-information/notification-guidelines" TargetMode="External" Id="R12448f1e81454385" /><Relationship Type="http://schemas.openxmlformats.org/officeDocument/2006/relationships/hyperlink" Target="https://www.wipo.int/en/web/treaties/ip/gratk" TargetMode="External" Id="R88542ad9ca40413a" /><Relationship Type="http://schemas.openxmlformats.org/officeDocument/2006/relationships/hyperlink" Target="https://aclanthology.org/2023.emnlp-main.398/" TargetMode="External" Id="Rb88986217bcd4dbf" /><Relationship Type="http://schemas.openxmlformats.org/officeDocument/2006/relationships/hyperlink" Target="https://arxiv.org/abs/2408.10343" TargetMode="External" Id="R44c63c4d70114212" /><Relationship Type="http://schemas.openxmlformats.org/officeDocument/2006/relationships/hyperlink" Target="https://arxiv.org/abs/2402.03216" TargetMode="External" Id="Rda1a81bbc6914658" /><Relationship Type="http://schemas.openxmlformats.org/officeDocument/2006/relationships/hyperlink" Target="https://arxiv.org/abs/2305.16307" TargetMode="External" Id="R3c6bd69a440b4def" /><Relationship Type="http://schemas.openxmlformats.org/officeDocument/2006/relationships/notesSlide" Target="/ppt/notesSlides/notesSlide8.xml" Id="Rc103fc6be0da41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CEDFB-8F46-43F2-B45D-6C1BD117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2238375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C33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8A6C9-36D6-45D5-B937-8D0C735E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NAUT 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14386-7C86-4A7B-85DB-5C8C5E99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"/>
            <a:ext cx="9715500" cy="581025"/>
          </a:xfrm>
          <a:prstGeom xmlns:a="http://schemas.openxmlformats.org/drawingml/2006/main" prst="roundRect">
            <a:avLst>
              <a:gd name="adj" fmla="val 32787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1CEF7-9471-4D2E-9E54-FBAA33BC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SMART INDIA HACKATHON 2026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df4925e354ad4"/>
          <a:stretch xmlns:a="http://schemas.openxmlformats.org/drawingml/2006/main"/>
        </p:blipFill>
        <p:spPr>
          <a:xfrm xmlns:a="http://schemas.openxmlformats.org/drawingml/2006/main">
            <a:off x="12851187" y="76200"/>
            <a:ext cx="2167776" cy="1028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998DA-693A-436A-8482-A97BDE15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858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IP-SAKTI SAHAYAK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6E54C-2F60-43AE-B8D4-61397C8B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0275"/>
            <a:ext cx="866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Problem Statement ID: 26045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04410-CBE5-4A2C-A77D-BC8D8645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2417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Problem Statement Title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A6508-D8A6-4D2E-9AB6-F465821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57575"/>
            <a:ext cx="8429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Multilingual, source-cited AI assistant for Ayurveda intellectual-property and regulatory guidance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4ED9D-AAAF-422A-8C44-6A57A43E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2352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Theme 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2CA8E-9FEA-49FB-9FA7-8227FD9A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953000"/>
            <a:ext cx="576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MedTech / BioTech / HealthTech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7FC15-015A-426C-83FF-6F4B73E2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05475"/>
            <a:ext cx="2352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PS Category 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E9568-CEB5-4AE2-B995-641174E6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705475"/>
            <a:ext cx="576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Software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A09AB-17C7-42D2-B6EE-09AB65F1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2352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Team ID 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59D88-772A-4BB4-A4A4-3855DAB9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6457950"/>
            <a:ext cx="576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To be assigned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DCC5D-264A-4EB0-96CF-8B9AFB89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10425"/>
            <a:ext cx="2352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Team Name 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2B7FE-E82E-4F0F-98ED-BF089163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7210425"/>
            <a:ext cx="576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Naut IQ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9000ef8ae4680"/>
          <a:stretch xmlns:a="http://schemas.openxmlformats.org/drawingml/2006/main"/>
        </p:blipFill>
        <p:spPr>
          <a:xfrm xmlns:a="http://schemas.openxmlformats.org/drawingml/2006/main">
            <a:off x="9810750" y="2017751"/>
            <a:ext cx="4572000" cy="4889423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15495-63F3-4CF0-950A-564D7CD6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AYUNEX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7CF33-76D4-44C9-A50A-4D2D35C4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485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3E590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E5908"/>
                </a:solidFill>
                <a:latin typeface="Calibri"/>
                <a:ea typeface="Calibri"/>
                <a:cs typeface="Calibri"/>
              </a:rPr>
              <a:t>Product interface for IP-SAKTI</a:t>
            </a:r>
          </a:p>
        </p:txBody>
      </p:sp>
    </p:spTree>
    <p:extLst>
      <p:ext uri="{BB962C8B-B14F-4D97-AF65-F5344CB8AC3E}">
        <p14:creationId xmlns:p14="http://schemas.microsoft.com/office/powerpoint/2010/main" val="15682068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C2569E-7822-47F5-AAD5-9ACE1478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2238375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C33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08A2C-9CA5-471D-93B9-130006E0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NAUT 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8456F-6C4C-4A41-8FAF-843BCA86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"/>
            <a:ext cx="9715500" cy="581025"/>
          </a:xfrm>
          <a:prstGeom xmlns:a="http://schemas.openxmlformats.org/drawingml/2006/main" prst="roundRect">
            <a:avLst>
              <a:gd name="adj" fmla="val 32787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16705-E5ED-4D1F-8013-9290E54F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AND SOLUTION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fd2583b804596"/>
          <a:stretch xmlns:a="http://schemas.openxmlformats.org/drawingml/2006/main"/>
        </p:blipFill>
        <p:spPr>
          <a:xfrm xmlns:a="http://schemas.openxmlformats.org/drawingml/2006/main">
            <a:off x="12851187" y="76200"/>
            <a:ext cx="2167776" cy="1028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0222C-7C82-4136-A78A-ADB0B952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962025"/>
            <a:ext cx="973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E590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3E5908"/>
                </a:solidFill>
                <a:latin typeface="Calibri"/>
                <a:ea typeface="Calibri"/>
                <a:cs typeface="Calibri"/>
              </a:rPr>
              <a:t>Product facts, independent assessments and source-linked next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9DBB1-6CE0-43B9-B4DC-4BDDB5BB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5619750" cy="2647950"/>
          </a:xfrm>
          <a:prstGeom xmlns:a="http://schemas.openxmlformats.org/drawingml/2006/main" prst="roundRect">
            <a:avLst>
              <a:gd name="adj" fmla="val 7194"/>
            </a:avLst>
          </a:prstGeom>
          <a:solidFill xmlns:a="http://schemas.openxmlformats.org/drawingml/2006/main">
            <a:srgbClr val="DAE8FC"/>
          </a:solidFill>
          <a:ln xmlns:a="http://schemas.openxmlformats.org/drawingml/2006/main" w="14288">
            <a:solidFill>
              <a:srgbClr val="4F81B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7E43F-4F68-4A35-ABB3-98BB5B2B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09725"/>
            <a:ext cx="531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THE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78A58-C2CD-42CB-91AA-38810CBD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28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46562-B4EB-412B-B6D6-AAD6AA74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28825"/>
            <a:ext cx="4695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Which product and labelling rules apply?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105A8-B0AB-4441-9189-AC4F72BA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622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408EC-5FD0-4BD5-BB16-34A448AC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62225"/>
            <a:ext cx="4695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Which IP rights and prior knowledge matter?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42129-66AB-4898-8EDF-F634DFF7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019A5-8D58-4352-A18F-D9C073F3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4695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What access and benefit-sharing duties arise?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3C7B5-8378-4638-AA0B-7A858AB1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290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46E05-31F6-42DA-822E-10B70137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29025"/>
            <a:ext cx="4695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What changes in the target export market?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D60BB-C841-4541-8EE8-4A837DB8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95775"/>
            <a:ext cx="5619750" cy="3905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1D5E7"/>
          </a:solidFill>
          <a:ln xmlns:a="http://schemas.openxmlformats.org/drawingml/2006/main" w="14288">
            <a:solidFill>
              <a:srgbClr val="4F81B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A72AA-47AB-46E8-99CF-B591A5A9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10075"/>
            <a:ext cx="531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PROPOSED SOLUTION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C0A16-5F41-4534-8521-884EF8E6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57750"/>
            <a:ext cx="516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Relevant questions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4830B-5FA3-473D-8AF9-98DA42C8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0065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Create a Passport only when product facts matter.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8E0F3-A4A8-4C88-BB9C-BD747CB5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76900"/>
            <a:ext cx="516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Separate assessments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538D3F-94B2-4B6F-B0CD-0BC58671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1980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Review regulation, IP and ABS independently.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532E7-27A0-4BA2-9EA3-6D752B72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516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Dated official 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FACC4-62F5-4FD5-AEB0-C8B75387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3895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Keep India and export-market guidance distinct.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08FDE-2045-4CBD-8828-61B19B16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15200"/>
            <a:ext cx="516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Evidence before answers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A0C88-7DE0-4816-928C-85DDC958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5810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Verify material claims and flag gaps for human review.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F61FEB-548C-4C15-A449-DDAD45F0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16002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AE8FC"/>
          </a:solidFill>
          <a:ln xmlns:a="http://schemas.openxmlformats.org/drawingml/2006/main" w="14288">
            <a:solidFill>
              <a:srgbClr val="DAE8F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4181E4-2C28-488C-93A4-01F4B933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716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640B7A-1982-4147-8BFD-BB06556F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335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2AA494-C114-406E-BED7-AE11527C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Query and</a:t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0100B4-DDBD-422D-9824-3F531FE2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43050"/>
            <a:ext cx="16002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1D5E7"/>
          </a:solidFill>
          <a:ln xmlns:a="http://schemas.openxmlformats.org/drawingml/2006/main" w="14288">
            <a:solidFill>
              <a:srgbClr val="E1D5E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8E252F-8F3C-4E93-9702-5DAC60EC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94D787-9CF1-4CCC-A57A-76B05216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335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CONFIRM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E56AE0-3053-4372-B17E-21E3A12D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288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Relevant</a:t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product facts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70A7B1-898B-4388-8BC5-915DF42E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543050"/>
            <a:ext cx="16002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5E8D4"/>
          </a:solidFill>
          <a:ln xmlns:a="http://schemas.openxmlformats.org/drawingml/2006/main" w="14288">
            <a:solidFill>
              <a:srgbClr val="D5E8D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F7ED93-2044-4D73-A6BA-0E7FF1F4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5716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DE8158-290A-4D89-B32A-B064EAAD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9335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ASSESS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949DFB-A6DD-4CAB-82F3-5C254FFA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288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Regulation,</a:t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IP and ABS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8E4EAD-E6B4-4121-A78C-F5730630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1543050"/>
            <a:ext cx="16002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CFC9A"/>
          </a:solidFill>
          <a:ln xmlns:a="http://schemas.openxmlformats.org/drawingml/2006/main" w="14288">
            <a:solidFill>
              <a:srgbClr val="FCFC9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E13183-0F78-4539-B160-98D755F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15716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F57CE2-608B-415E-921B-50005691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19335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VERIFY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937FD3-1FBA-4129-BE1A-E38C5D11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2288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Provisions</a:t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and dates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2710F6-3EFD-43E9-9916-31269D5E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543050"/>
            <a:ext cx="16002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AC090"/>
          </a:solidFill>
          <a:ln xmlns:a="http://schemas.openxmlformats.org/drawingml/2006/main" w="14288">
            <a:solidFill>
              <a:srgbClr val="FAC09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01841D-C7BA-4109-A775-30260966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5716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D49D9E-FE88-4BD2-9D27-69A77CAB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19335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PREPARE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18A341-8AC8-4651-8F41-4359442D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2288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Cited</a:t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case brief</a:t>
            </a:r>
          </a:p>
        </p:txBody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ff4938e134550"/>
          <a:stretch xmlns:a="http://schemas.openxmlformats.org/drawingml/2006/main"/>
        </p:blipFill>
        <p:spPr>
          <a:xfrm xmlns:a="http://schemas.openxmlformats.org/drawingml/2006/main">
            <a:off x="6267452" y="2647950"/>
            <a:ext cx="8762995" cy="5841997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F5A4D9-A543-4A24-A149-EBEFE338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686" y="2876153"/>
            <a:ext cx="7114232" cy="41361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D07"/>
          </a:solidFill>
          <a:ln xmlns:a="http://schemas.openxmlformats.org/drawingml/2006/main" w="0">
            <a:noFill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4067cfa674fcf"/>
          <a:stretch xmlns:a="http://schemas.openxmlformats.org/drawingml/2006/main"/>
        </p:blipFill>
        <p:spPr>
          <a:xfrm xmlns:a="http://schemas.openxmlformats.org/drawingml/2006/main">
            <a:off x="7471790" y="2876153"/>
            <a:ext cx="6360025" cy="4136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84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6DE662-2BE0-49CD-9587-6D3F83E3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2238375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C33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6018F-1F46-4ADE-AA53-C6F4E584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NAUT 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317B9-05D2-46B9-8EE1-28419D25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"/>
            <a:ext cx="9715500" cy="581025"/>
          </a:xfrm>
          <a:prstGeom xmlns:a="http://schemas.openxmlformats.org/drawingml/2006/main" prst="roundRect">
            <a:avLst>
              <a:gd name="adj" fmla="val 32787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758DA-7882-4BA8-9885-3A0715C5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WORKFLOW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a600016de4048"/>
          <a:stretch xmlns:a="http://schemas.openxmlformats.org/drawingml/2006/main"/>
        </p:blipFill>
        <p:spPr>
          <a:xfrm xmlns:a="http://schemas.openxmlformats.org/drawingml/2006/main">
            <a:off x="12851187" y="76200"/>
            <a:ext cx="2167776" cy="1028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A3026-6C4B-4289-AECB-DD743F28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191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E590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3E5908"/>
                </a:solidFill>
                <a:latin typeface="Calibri"/>
                <a:ea typeface="Calibri"/>
                <a:cs typeface="Calibri"/>
              </a:rPr>
              <a:t>Relevant facts first. Evidence checks before the final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C32C3-B861-44D9-8F00-1E2EA194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4524375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DAE8FC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BAAE2-82AB-435F-A234-4A80FDE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0225"/>
            <a:ext cx="4219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USER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53B0E-0818-45EB-BB2F-AB309DBE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4219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Language, jurisdiction and as-of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FBE6E-9F34-4AC2-A8E4-7539A6C0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81350"/>
            <a:ext cx="4524375" cy="1076325"/>
          </a:xfrm>
          <a:prstGeom xmlns:a="http://schemas.openxmlformats.org/drawingml/2006/main" prst="roundRect">
            <a:avLst>
              <a:gd name="adj" fmla="val 17699"/>
            </a:avLst>
          </a:prstGeom>
          <a:solidFill xmlns:a="http://schemas.openxmlformats.org/drawingml/2006/main">
            <a:srgbClr val="E1D5E7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EDEA6-2A26-48D0-9264-55706CA1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4219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GENERAL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7E181-E6F5-41F9-83F1-4EFA363E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4219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Retrieve relevant sources without a Passport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F7524-D6FF-481C-8743-B30DEF98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05350"/>
            <a:ext cx="4524375" cy="1076325"/>
          </a:xfrm>
          <a:prstGeom xmlns:a="http://schemas.openxmlformats.org/drawingml/2006/main" prst="roundRect">
            <a:avLst>
              <a:gd name="adj" fmla="val 17699"/>
            </a:avLst>
          </a:prstGeom>
          <a:solidFill xmlns:a="http://schemas.openxmlformats.org/drawingml/2006/main">
            <a:srgbClr val="D5E8D4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90816-33C2-4ABC-A816-4AEE2A0D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4219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PRODUCT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0E8E1-AF19-430B-8340-D9FB8279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0175"/>
            <a:ext cx="4219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Ask relevant facts and confirm extracted details</a:t>
            </a:r>
          </a:p>
        </p:txBody>
      </p:sp>
      <p:cxnSp>
        <p:nvCxnSpPr>
          <p:cNvPr id="61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624138" y="27432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060"/>
            </a:solidFill>
            <a:tailEnd type="triangle" w="med" len="med"/>
          </a:ln>
        </p:spPr>
      </p:cxnSp>
      <p:cxnSp>
        <p:nvCxnSpPr>
          <p:cNvPr id="62" name=""/>
          <p:cNvCxnSpPr>
            <a:stCxn xmlns:a="http://schemas.openxmlformats.org/drawingml/2006/main" id="7" idx="1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33350" y="2214563"/>
            <a:ext cx="228600" cy="30289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02060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CD6F0-C1B2-470B-9177-78FB03E4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62450"/>
            <a:ext cx="4648200" cy="1685925"/>
          </a:xfrm>
          <a:prstGeom xmlns:a="http://schemas.openxmlformats.org/drawingml/2006/main" prst="roundRect">
            <a:avLst>
              <a:gd name="adj" fmla="val 11299"/>
            </a:avLst>
          </a:prstGeom>
          <a:solidFill xmlns:a="http://schemas.openxmlformats.org/drawingml/2006/main">
            <a:srgbClr val="FCFC9A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2B7CB-E816-48CF-8568-A92487F3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767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INDEPENDENT ASSESSMENTS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0D5DB-9646-4231-8A35-C76C21AB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67275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Regulatory route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IP opportunities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ABS / traditional-knowledge duties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ABD01-BED3-4FB3-A43C-893ED390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85925"/>
            <a:ext cx="4648200" cy="14763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C09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5C21DA-571D-44EF-95DF-1BF9D8A1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0022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OFFICIAL PROVISIONS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EDE90-8E77-479E-9C9E-27F7DF44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4343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Search exact terms and meaning. Check effective dates, scope and exceptions.</a:t>
            </a:r>
          </a:p>
        </p:txBody>
      </p:sp>
      <p:cxnSp>
        <p:nvCxnSpPr>
          <p:cNvPr id="69" name=""/>
          <p:cNvCxnSpPr>
            <a:stCxn xmlns:a="http://schemas.openxmlformats.org/drawingml/2006/main" id="1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4886325" y="2424113"/>
            <a:ext cx="428625" cy="1295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2060"/>
            </a:solidFill>
            <a:tailEnd type="triangle" w="med" len="med"/>
          </a:ln>
        </p:spPr>
      </p:cxnSp>
      <p:cxnSp>
        <p:nvCxnSpPr>
          <p:cNvPr id="70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886325" y="5205413"/>
            <a:ext cx="428625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2060"/>
            </a:solidFill>
            <a:tail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18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7639050" y="316230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060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F41D3D-5E6C-470F-8B05-EDA8345B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85925"/>
            <a:ext cx="4486275" cy="14763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CEEF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2C424D-35AE-4900-A73A-98A10A49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800225"/>
            <a:ext cx="4181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EVIDENCE 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58DD4-C8EA-472E-BAE3-1A811BFF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90750"/>
            <a:ext cx="41814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Does each material claim have sufficient support?</a:t>
            </a:r>
          </a:p>
        </p:txBody>
      </p:sp>
      <p:cxnSp>
        <p:nvCxnSpPr>
          <p:cNvPr id="75" name=""/>
          <p:cNvCxnSpPr>
            <a:stCxn xmlns:a="http://schemas.openxmlformats.org/drawingml/2006/main" id="21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963150" y="2424113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060"/>
            </a:solidFill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12F08B-8C80-498F-9BE0-88D769C5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57600"/>
            <a:ext cx="4486275" cy="1314450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DAE8FC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C6B27C-168B-4F11-B221-63CC7B62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771900"/>
            <a:ext cx="4181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CITED ACTION PLAN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FF8900-D196-48D4-9364-B4C27ADB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62425"/>
            <a:ext cx="4181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Classification, next steps, forms, sources and unresolved questions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206E24-8B72-40C9-8F5D-2F8D0D49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48300"/>
            <a:ext cx="4486275" cy="1314450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E1D5E7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F22C81-F186-483D-8A17-F34A2EDC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562600"/>
            <a:ext cx="4181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MISSING OR CONFLICTING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853880-DBDD-43AD-950D-25ECB9AD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953125"/>
            <a:ext cx="4181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One retrieval retry, then partial guidance or human review</a:t>
            </a:r>
          </a:p>
        </p:txBody>
      </p: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12644438" y="31623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060"/>
            </a:solidFill>
            <a:tailEnd type="triangl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63C1F4-1312-4B29-966C-B92D1114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2670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Supported</a:t>
            </a:r>
          </a:p>
        </p:txBody>
      </p:sp>
      <p:cxnSp>
        <p:nvCxnSpPr>
          <p:cNvPr id="84" name=""/>
          <p:cNvCxnSpPr>
            <a:stCxn xmlns:a="http://schemas.openxmlformats.org/drawingml/2006/main" id="27" idx="3"/>
            <a:endCxn xmlns:a="http://schemas.openxmlformats.org/drawingml/2006/main" id="34" idx="3"/>
          </p:cNvCxnSpPr>
          <p:nvPr/>
        </p:nvCxnSpPr>
        <p:spPr>
          <a:xfrm xmlns:a="http://schemas.openxmlformats.org/drawingml/2006/main">
            <a:off x="14887575" y="2424113"/>
            <a:ext cx="228600" cy="36814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02060"/>
            </a:solidFill>
            <a:tailEnd type="triangle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6E7A04-0857-4AE9-B93F-E6BAABAC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95875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Insufficient support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44698C-821F-47B7-906D-4FE95266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43650"/>
            <a:ext cx="9601200" cy="1819275"/>
          </a:xfrm>
          <a:prstGeom xmlns:a="http://schemas.openxmlformats.org/drawingml/2006/main" prst="roundRect">
            <a:avLst>
              <a:gd name="adj" fmla="val 10471"/>
            </a:avLst>
          </a:prstGeom>
          <a:solidFill xmlns:a="http://schemas.openxmlformats.org/drawingml/2006/main">
            <a:srgbClr val="DAE8FC"/>
          </a:solidFill>
          <a:ln xmlns:a="http://schemas.openxmlformats.org/drawingml/2006/main" w="14288">
            <a:solidFill>
              <a:srgbClr val="4F81BD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D0E412-CB37-4A83-8A66-3023C99C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9296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FACTS THAT MAY CHANGE A PRODUCT ASSESSMENT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F48B46-1163-439B-B408-19F21B01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962775"/>
            <a:ext cx="4333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Intended use / claims</a:t>
            </a:r>
          </a:p>
          <a:p xmlns:a="http://schemas.openxmlformats.org/drawingml/2006/main">
            <a:pPr algn="l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Ingredients / resource origin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D64127-0AEA-42A6-B344-5B01A5AA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962775"/>
            <a:ext cx="4610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Formula / processing changes</a:t>
            </a:r>
          </a:p>
          <a:p xmlns:a="http://schemas.openxmlformats.org/drawingml/2006/main">
            <a:pPr algn="l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Applicant / market / prior disclosure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E8387D-B855-460D-B014-7462B33A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077075"/>
            <a:ext cx="44100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Unknown facts remain unresolved. A product category does not establish patentability or ABS clearance.</a:t>
            </a:r>
          </a:p>
        </p:txBody>
      </p:sp>
    </p:spTree>
    <p:extLst>
      <p:ext uri="{BB962C8B-B14F-4D97-AF65-F5344CB8AC3E}">
        <p14:creationId xmlns:p14="http://schemas.microsoft.com/office/powerpoint/2010/main" val="4929716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4762FA-AD3C-4752-BE82-F10CCFDB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2238375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C33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DD482-8902-4B2E-9501-E6C767BF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NAUT 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4317B-D667-4B71-A9BE-63BC8DB6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"/>
            <a:ext cx="9715500" cy="581025"/>
          </a:xfrm>
          <a:prstGeom xmlns:a="http://schemas.openxmlformats.org/drawingml/2006/main" prst="roundRect">
            <a:avLst>
              <a:gd name="adj" fmla="val 32787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F5299-FE10-41B7-BFDC-CC086415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TECHNICAL APPROACH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c0ce9e30946c0"/>
          <a:stretch xmlns:a="http://schemas.openxmlformats.org/drawingml/2006/main"/>
        </p:blipFill>
        <p:spPr>
          <a:xfrm xmlns:a="http://schemas.openxmlformats.org/drawingml/2006/main">
            <a:off x="12851187" y="76200"/>
            <a:ext cx="2167776" cy="1028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37FF2-3A5E-4DB2-BE83-1C44142B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04900"/>
            <a:ext cx="10287000" cy="708660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BB3FE-B8D8-4770-AEE8-64849DBE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43000"/>
            <a:ext cx="4410075" cy="4572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9123A-B5D2-482E-B696-7AB8F1EC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228725"/>
            <a:ext cx="4105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FD924-97AB-4218-B64E-1EDB59AF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90700"/>
            <a:ext cx="9334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AE8FC"/>
          </a:solidFill>
          <a:ln xmlns:a="http://schemas.openxmlformats.org/drawingml/2006/main" w="14288">
            <a:solidFill>
              <a:srgbClr val="DAE8F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265F0-AB91-405E-8E20-A84D794B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66900"/>
            <a:ext cx="8943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USER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2F7B5-EA57-49A4-9C1C-4D54B55D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47900"/>
            <a:ext cx="8943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Next.js / TypeScript / Tailwind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6795B-D0C4-41B4-9F46-29021EDC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09850"/>
            <a:ext cx="8943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Guided questions and evidence views. Hindi text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DB9DD-7801-4624-9EEA-8A7BB443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71825"/>
            <a:ext cx="9334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1D5E7"/>
          </a:solidFill>
          <a:ln xmlns:a="http://schemas.openxmlformats.org/drawingml/2006/main" w="14288">
            <a:solidFill>
              <a:srgbClr val="E1D5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D9B3A-E448-4125-A528-7534A154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48025"/>
            <a:ext cx="8943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DOMAIN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6FF2B-B451-4DB9-96CC-DA666ADF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29025"/>
            <a:ext cx="8943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FastAPI / Pydantic / decision tables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AF2B1-7AE5-439C-B427-89E032C7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90975"/>
            <a:ext cx="8943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Confirm facts and assess regulation, IP and ABS separately.</a:t>
            </a:r>
          </a:p>
        </p:txBody>
      </p:sp>
      <p:cxnSp>
        <p:nvCxnSpPr>
          <p:cNvPr id="61" name=""/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362575" y="29718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060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F0E1D-CB31-4E6A-A258-0A793548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2950"/>
            <a:ext cx="9334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5E8D4"/>
          </a:solidFill>
          <a:ln xmlns:a="http://schemas.openxmlformats.org/drawingml/2006/main" w="14288">
            <a:solidFill>
              <a:srgbClr val="D5E8D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ACEB9-EE0A-4BDA-98A7-7D6BA635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29150"/>
            <a:ext cx="8943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RETRIEVAL AND ANSWERS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18F1B-4751-47B7-B89F-E5E33952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10150"/>
            <a:ext cx="8943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PostgreSQL FTS / pgvector / BGE-M3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7C384-C39E-4B83-9D59-6A8CAA9B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72100"/>
            <a:ext cx="8943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Retrieve versioned provisions. Qwen3-8B remains a candidate.</a:t>
            </a:r>
          </a:p>
        </p:txBody>
      </p:sp>
      <p:cxnSp>
        <p:nvCxnSpPr>
          <p:cNvPr id="66" name=""/>
          <p:cNvCxnSpPr>
            <a:stCxn xmlns:a="http://schemas.openxmlformats.org/drawingml/2006/main" id="13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5362575" y="435292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060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DB5C7-0746-43DB-86BD-12A945F3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34075"/>
            <a:ext cx="9334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CFC9A"/>
          </a:solidFill>
          <a:ln xmlns:a="http://schemas.openxmlformats.org/drawingml/2006/main" w="14288">
            <a:solidFill>
              <a:srgbClr val="FCFC9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523AF-CE9E-4DBD-8C1B-7B635D1C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010275"/>
            <a:ext cx="8943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VERIFICATION AND DELIVERY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0D9BE5-D885-4862-9889-38951414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391275"/>
            <a:ext cx="8943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Typed evidence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EB865-8054-4FE4-88D3-3BC0B85E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753225"/>
            <a:ext cx="8943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Verify claims, then return sources, forms and unresolved issues.</a:t>
            </a:r>
          </a:p>
        </p:txBody>
      </p:sp>
      <p:cxnSp>
        <p:nvCxnSpPr>
          <p:cNvPr id="71" name=""/>
          <p:cNvCxnSpPr>
            <a:stCxn xmlns:a="http://schemas.openxmlformats.org/drawingml/2006/main" id="18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362575" y="573405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060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342BD9-2E31-479F-85CD-DEE0D21A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48550"/>
            <a:ext cx="9525000" cy="371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2B19CF-F573-4D88-AA7A-C2CCA3C2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534275"/>
            <a:ext cx="9220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PLATFORM SUPPORT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BCBF79-6AF5-4DEB-A98E-429043F1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96225"/>
            <a:ext cx="938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Docker Compose, object storage, role-based access and audit logs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FBAFB2-CD2D-4F42-BB2B-2F7F7390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219200"/>
            <a:ext cx="4248150" cy="438150"/>
          </a:xfrm>
          <a:prstGeom xmlns:a="http://schemas.openxmlformats.org/drawingml/2006/main" prst="roundRect">
            <a:avLst>
              <a:gd name="adj" fmla="val 43478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447BC-0B0C-447C-8EB6-0206FD41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304925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TECHNOLOGY STACK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EEF3CF-F65C-4019-B5EC-07821923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838325"/>
            <a:ext cx="4248150" cy="1133475"/>
          </a:xfrm>
          <a:prstGeom xmlns:a="http://schemas.openxmlformats.org/drawingml/2006/main" prst="roundRect">
            <a:avLst>
              <a:gd name="adj" fmla="val 16807"/>
            </a:avLst>
          </a:prstGeom>
          <a:solidFill xmlns:a="http://schemas.openxmlformats.org/drawingml/2006/main">
            <a:srgbClr val="E1D5E7"/>
          </a:solidFill>
          <a:ln xmlns:a="http://schemas.openxmlformats.org/drawingml/2006/main" w="14288">
            <a:solidFill>
              <a:srgbClr val="E1D5E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438FE7-579C-40A1-B831-CC09B0FB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9431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LANGUAGE ACCESS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4928E5-4D73-47DF-94F2-1DB27D12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343150"/>
            <a:ext cx="3905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BHASHINI adapter</a:t>
            </a:r>
          </a:p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Voice after validation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9C4DAF-4975-490E-A623-6C615691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71825"/>
            <a:ext cx="4248150" cy="1133475"/>
          </a:xfrm>
          <a:prstGeom xmlns:a="http://schemas.openxmlformats.org/drawingml/2006/main" prst="roundRect">
            <a:avLst>
              <a:gd name="adj" fmla="val 16807"/>
            </a:avLst>
          </a:prstGeom>
          <a:solidFill xmlns:a="http://schemas.openxmlformats.org/drawingml/2006/main">
            <a:srgbClr val="D5E8D4"/>
          </a:solidFill>
          <a:ln xmlns:a="http://schemas.openxmlformats.org/drawingml/2006/main" w="14288">
            <a:solidFill>
              <a:srgbClr val="D5E8D4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BAE6C5-F638-4B14-A7F8-07A395B4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766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EVIDENCE STORAGE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6B3E9F-2437-4500-8A7F-2797B938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76650"/>
            <a:ext cx="3905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Versioned official provisions</a:t>
            </a:r>
          </a:p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Private cases outside corpus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08A31F-11D9-4153-8DF0-AAAF258C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05325"/>
            <a:ext cx="4248150" cy="1133475"/>
          </a:xfrm>
          <a:prstGeom xmlns:a="http://schemas.openxmlformats.org/drawingml/2006/main" prst="roundRect">
            <a:avLst>
              <a:gd name="adj" fmla="val 16807"/>
            </a:avLst>
          </a:prstGeom>
          <a:solidFill xmlns:a="http://schemas.openxmlformats.org/drawingml/2006/main">
            <a:srgbClr val="FCFC9A"/>
          </a:solidFill>
          <a:ln xmlns:a="http://schemas.openxmlformats.org/drawingml/2006/main" w="14288">
            <a:solidFill>
              <a:srgbClr val="FCFC9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64827D-B767-4024-8530-1507AC96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6101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MODEL SELECTION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7E2081-453A-4273-9CBF-40D7B803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010150"/>
            <a:ext cx="3905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Benchmark the generator</a:t>
            </a:r>
          </a:p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and reranker before selection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428D3C-417F-4D61-9674-C9D6CE0A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96000"/>
            <a:ext cx="4248150" cy="438150"/>
          </a:xfrm>
          <a:prstGeom xmlns:a="http://schemas.openxmlformats.org/drawingml/2006/main" prst="roundRect">
            <a:avLst>
              <a:gd name="adj" fmla="val 43478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29263F-EDE4-4B9B-9C94-4F4A9416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81725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DELIVERY BOUNDARIES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FAA875-AACA-43DC-ABF6-21C0F9DE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705600"/>
            <a:ext cx="4000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One backend and one worker initially.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Add a graph database or extra agents only if evaluation demonstrates a benefit.</a:t>
            </a:r>
          </a:p>
        </p:txBody>
      </p:sp>
    </p:spTree>
    <p:extLst>
      <p:ext uri="{BB962C8B-B14F-4D97-AF65-F5344CB8AC3E}">
        <p14:creationId xmlns:p14="http://schemas.microsoft.com/office/powerpoint/2010/main" val="1187331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A3962-1C20-402A-81E2-0E2A20EF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2238375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C33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7A59B-D41B-40BE-957F-C6F98323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NAUT 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8CFB5-709B-4354-BCE9-90E6C1E2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"/>
            <a:ext cx="9715500" cy="581025"/>
          </a:xfrm>
          <a:prstGeom xmlns:a="http://schemas.openxmlformats.org/drawingml/2006/main" prst="roundRect">
            <a:avLst>
              <a:gd name="adj" fmla="val 32787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CE7A2-96E1-4173-A5B9-B92DBC7C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FEATURES AND INNOVATION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8be630d984210"/>
          <a:stretch xmlns:a="http://schemas.openxmlformats.org/drawingml/2006/main"/>
        </p:blipFill>
        <p:spPr>
          <a:xfrm xmlns:a="http://schemas.openxmlformats.org/drawingml/2006/main">
            <a:off x="12851187" y="76200"/>
            <a:ext cx="2167776" cy="1028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D3849-4DC9-4B1C-B313-2E926589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9620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E590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3E5908"/>
                </a:solidFill>
                <a:latin typeface="Calibri"/>
                <a:ea typeface="Calibri"/>
                <a:cs typeface="Calibri"/>
              </a:rPr>
              <a:t>Relevant questions, inspectable evidence and a clear path through uncertainty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43C67-CF75-4FC9-A9A1-84815983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85900"/>
            <a:ext cx="5629275" cy="54102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DAE8FC"/>
          </a:solidFill>
          <a:ln xmlns:a="http://schemas.openxmlformats.org/drawingml/2006/main" w="14288">
            <a:solidFill>
              <a:srgbClr val="4F81B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A4596-BDB4-4EE9-B428-7D21882E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00200"/>
            <a:ext cx="5324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WHAT MAKES THE APPROACH USEFUL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96D53-E188-4ED5-A3D3-B35A332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1455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01  Relevant 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5AF36-D480-47EA-8BB2-69CF5A9F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14600"/>
            <a:ext cx="5124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General queries bypass the Passport. Ask only for facts that change a product assessment.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06A79-7DDD-4DB7-B0FA-F3097431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48025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02  Separate legal pathways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F0081-92F0-4634-87C8-06298CD1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48075"/>
            <a:ext cx="5124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Regulation, IP and ABS keep their own conditions. Unknown facts remain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08DB8-E41E-4288-9B4B-EEB9C379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38150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03  Inspectable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F7FE0-8B99-4487-A16E-1DDB04FF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81550"/>
            <a:ext cx="5124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Link material claims to exact provisions, versions, dates and jurisdictions.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6CC09-055A-48B7-859C-45744A77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14975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04  Human review when 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2FCB9-96C5-4EE5-BD2F-59D87082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15025"/>
            <a:ext cx="5124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Preserve facts and evidence. Flag unsupported sections and unresolved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35815-51E9-46AC-86DC-455BB3E9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504950"/>
            <a:ext cx="8362950" cy="4286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BD32B-57E0-4C30-8D44-C46218D0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90675"/>
            <a:ext cx="805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AYUNEX KNOWLEDGE DIRECTORY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1881fcf3945fd"/>
          <a:stretch xmlns:a="http://schemas.openxmlformats.org/drawingml/2006/main"/>
        </p:blipFill>
        <p:spPr>
          <a:xfrm xmlns:a="http://schemas.openxmlformats.org/drawingml/2006/main">
            <a:off x="6267452" y="2009775"/>
            <a:ext cx="8762995" cy="5841997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F26F7-D1F0-4AA8-80C4-B7340D00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686" y="2237978"/>
            <a:ext cx="7114232" cy="41361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D07"/>
          </a:solidFill>
          <a:ln xmlns:a="http://schemas.openxmlformats.org/drawingml/2006/main" w="0">
            <a:noFill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de0ce1f184d40"/>
          <a:stretch xmlns:a="http://schemas.openxmlformats.org/drawingml/2006/main"/>
        </p:blipFill>
        <p:spPr>
          <a:xfrm xmlns:a="http://schemas.openxmlformats.org/drawingml/2006/main">
            <a:off x="7471790" y="2237978"/>
            <a:ext cx="6360025" cy="4136179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32F17D-A170-48A8-AB74-9047FF48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953375"/>
            <a:ext cx="833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Official-source directory, not an ingested or verified legal corpus.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71512-A18B-4CAA-B5AE-91B5C1D6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124700"/>
            <a:ext cx="5629275" cy="108585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CFC9A"/>
          </a:solidFill>
          <a:ln xmlns:a="http://schemas.openxmlformats.org/drawingml/2006/main" w="14288">
            <a:solidFill>
              <a:srgbClr val="FCFC9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205F4-5396-4989-8821-F7E5F4DE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58050"/>
            <a:ext cx="5267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Information and preparation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91840-E9B2-40FA-93E8-7E3F1570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705725"/>
            <a:ext cx="518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Legal decisions require qualified expert review.</a:t>
            </a:r>
          </a:p>
        </p:txBody>
      </p:sp>
    </p:spTree>
    <p:extLst>
      <p:ext uri="{BB962C8B-B14F-4D97-AF65-F5344CB8AC3E}">
        <p14:creationId xmlns:p14="http://schemas.microsoft.com/office/powerpoint/2010/main" val="1656152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8CFA3B-9927-4A9C-827A-E9984966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2238375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C33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0C90F-E46D-48F0-9C40-24F72454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NAUT 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62C77-2804-40DA-9804-871C6EBD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"/>
            <a:ext cx="9715500" cy="581025"/>
          </a:xfrm>
          <a:prstGeom xmlns:a="http://schemas.openxmlformats.org/drawingml/2006/main" prst="roundRect">
            <a:avLst>
              <a:gd name="adj" fmla="val 32787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8F6CA-6A87-4EEF-B142-7FF48509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FEASIBILITY AND VIABILITY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c5ae8f1b748d1"/>
          <a:stretch xmlns:a="http://schemas.openxmlformats.org/drawingml/2006/main"/>
        </p:blipFill>
        <p:spPr>
          <a:xfrm xmlns:a="http://schemas.openxmlformats.org/drawingml/2006/main">
            <a:off x="12851187" y="76200"/>
            <a:ext cx="2167776" cy="1028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CE75C-456A-44E0-AA01-4E9A56D8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95375"/>
            <a:ext cx="6924675" cy="4124325"/>
          </a:xfrm>
          <a:prstGeom xmlns:a="http://schemas.openxmlformats.org/drawingml/2006/main" prst="roundRect">
            <a:avLst>
              <a:gd name="adj" fmla="val 4619"/>
            </a:avLst>
          </a:prstGeom>
          <a:solidFill xmlns:a="http://schemas.openxmlformats.org/drawingml/2006/main">
            <a:srgbClr val="DAE8FC"/>
          </a:solidFill>
          <a:ln xmlns:a="http://schemas.openxmlformats.org/drawingml/2006/main" w="14288">
            <a:solidFill>
              <a:srgbClr val="4F81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F8621-A86B-4A37-BF88-23C4C820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9675"/>
            <a:ext cx="6619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BUILD AND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3797D-71D2-499C-8FB7-4285A4A2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448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01  Reviewed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7C786-E17B-4EB4-8569-4F4022E1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Official provisions, versioned rules and 30 expert-reviewed cases.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69361-9F35-498B-9DEF-FE85216C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645795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1D4B1-784C-4C6D-B334-F87184EC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6448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02  Working demonstrator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F3B42-43E4-4D9B-BB42-69B48570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Two product journeys, general queries and verifiable citations.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A016C-84EC-4C19-BB9A-899A938F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645795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50F28-7860-40C3-8EA5-6EE735D5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6448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03  Tested expansion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CC43B-792D-4C15-8C71-B7160C86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About 150 base cases, then Hindi and one export market.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01C53-51E4-4243-BCA4-36A0E1D9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095375"/>
            <a:ext cx="7305675" cy="4124325"/>
          </a:xfrm>
          <a:prstGeom xmlns:a="http://schemas.openxmlformats.org/drawingml/2006/main" prst="roundRect">
            <a:avLst>
              <a:gd name="adj" fmla="val 4619"/>
            </a:avLst>
          </a:prstGeom>
          <a:solidFill xmlns:a="http://schemas.openxmlformats.org/drawingml/2006/main">
            <a:srgbClr val="E1D5E7"/>
          </a:solidFill>
          <a:ln xmlns:a="http://schemas.openxmlformats.org/drawingml/2006/main" w="14288">
            <a:solidFill>
              <a:srgbClr val="4F81B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652D4-DDAB-4D97-98F2-FB176354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209675"/>
            <a:ext cx="7000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PRACTICAL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0706F-661E-4A17-895D-E5E37C6E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526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Changing law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44B3D-7E66-4E9C-8400-06D412F4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0275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Curator approval, effective dates and regression tests.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9A460-633C-404A-861A-DAC00D9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743200"/>
            <a:ext cx="685800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3E8D6-D173-446E-968F-195E271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860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Incomplete or incorrect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3F358-DD0F-4C47-BCBC-C20B43E9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33750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Claim checks, one repair attempt and human review.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78E3EB-3C59-4767-BD95-4A8C87E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76675"/>
            <a:ext cx="685800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00DA9-A264-44AF-A4F3-22EFDDA6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0195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Confidential product details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7BACF-11D7-422F-B5BE-D85AF3A1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467225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Minimum data collection, scoped access and redacted logs.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5BF5F8-2AEC-455F-AB59-35D2D92E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467350"/>
            <a:ext cx="14535150" cy="447675"/>
          </a:xfrm>
          <a:prstGeom xmlns:a="http://schemas.openxmlformats.org/drawingml/2006/main" prst="roundRect">
            <a:avLst>
              <a:gd name="adj" fmla="val 42553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29FBB9-3489-412B-BFDB-3FB43A87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4230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PILOT ACCEPTANCE TARGETS (AWAITING VALIDATION)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51C6F3-27E0-435B-AC89-43E407F8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0552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49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95%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70002F-5F59-42C2-9DDE-FB3B8FF1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191250"/>
            <a:ext cx="431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Citation support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C8DE70-86D7-4075-B10D-C2404FEE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6389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Check whether the cited evidence</a:t>
            </a:r>
          </a:p>
          <a:p xmlns:a="http://schemas.openxmlformats.org/drawingml/2006/main">
            <a:pPr algn="l">
              <a:defRPr sz="187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supports the material claim.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58CB46-9675-446A-9BAE-143ABBDF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610552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49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90%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624C0E-E7E0-4B8F-82EF-29531E32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19125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Required-abstention recall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237161-AD0D-4137-B4C9-AFAA15D5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638925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Check whether cases needing abstention</a:t>
            </a:r>
          </a:p>
          <a:p xmlns:a="http://schemas.openxmlformats.org/drawingml/2006/main">
            <a:pPr algn="l">
              <a:defRPr sz="187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are correctly flagged.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EF3CEE-4BB4-43CA-9136-5F888B97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524750"/>
            <a:ext cx="1453515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B82AA7-CC07-4017-81CE-FB7C7CC8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724775"/>
            <a:ext cx="2400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Dependencies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36699D-E3DD-44E3-9AC2-4F149026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724775"/>
            <a:ext cx="1173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Qualified reviewers and permitted source access are prerequisites. Targets require testing before release.</a:t>
            </a:r>
          </a:p>
        </p:txBody>
      </p:sp>
    </p:spTree>
    <p:extLst>
      <p:ext uri="{BB962C8B-B14F-4D97-AF65-F5344CB8AC3E}">
        <p14:creationId xmlns:p14="http://schemas.microsoft.com/office/powerpoint/2010/main" val="684481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242F0-664A-4A0A-80EC-8071FB44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2238375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C33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C6569-7E46-477B-8FA0-BABB4AD8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NAUT 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CEEC8-EC77-4F42-9893-575033C2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"/>
            <a:ext cx="9715500" cy="581025"/>
          </a:xfrm>
          <a:prstGeom xmlns:a="http://schemas.openxmlformats.org/drawingml/2006/main" prst="roundRect">
            <a:avLst>
              <a:gd name="adj" fmla="val 32787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1073F-008D-4C8A-B7D3-EDC5EC01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IMPACT AND BENEFITS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9ced3606d4d67"/>
          <a:stretch xmlns:a="http://schemas.openxmlformats.org/drawingml/2006/main"/>
        </p:blipFill>
        <p:spPr>
          <a:xfrm xmlns:a="http://schemas.openxmlformats.org/drawingml/2006/main">
            <a:off x="12851187" y="76200"/>
            <a:ext cx="2167776" cy="1028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559F3-32CD-49DA-8E1E-A24C3DEA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00012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E590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3E5908"/>
                </a:solidFill>
                <a:latin typeface="Calibri"/>
                <a:ea typeface="Calibri"/>
                <a:cs typeface="Calibri"/>
              </a:rPr>
              <a:t>Expected benefits for the Ayurveda community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361950" y="1714500"/>
          <a:ext xmlns:a="http://schemas.openxmlformats.org/drawingml/2006/main" cx="1453515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6105525"/>
                <a:gridCol w="5381625"/>
              </a:tblGrid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BENEFICIARY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002060"/>
                      </a:solidFill>
                      <a:prstDash val="solid"/>
                    </a:lnL>
                    <a:lnT w="9525">
                      <a:solidFill>
                        <a:srgbClr val="002060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EXPECTED BENEFIT</a:t>
                      </a:r>
                    </a:p>
                  </a:txBody>
                  <a:tcPr marL="91440" marR="91440" marT="45720" marB="45720">
                    <a:lnT w="9525">
                      <a:solidFill>
                        <a:srgbClr val="002060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USEFUL DELIVERABLE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002060"/>
                      </a:solidFill>
                      <a:prstDash val="solid"/>
                    </a:lnR>
                    <a:lnT w="9525">
                      <a:solidFill>
                        <a:srgbClr val="002060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Startups and MSMEs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002060"/>
                      </a:solidFill>
                      <a:prstDash val="solid"/>
                    </a:lnL>
                    <a:solidFill>
                      <a:srgbClr val="E1D5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Clearer next steps before spending on filings, licences or export preparation.</a:t>
                      </a:r>
                    </a:p>
                  </a:txBody>
                  <a:tcPr marL="91440" marR="91440" marT="45720" marB="45720">
                    <a:solidFill>
                      <a:srgbClr val="D5E8D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A preparation checklist with obligations and open questions.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002060"/>
                      </a:solidFill>
                      <a:prstDash val="solid"/>
                    </a:lnR>
                    <a:solidFill>
                      <a:srgbClr val="FCFC9A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Practitioners and researchers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002060"/>
                      </a:solidFill>
                      <a:prstDash val="solid"/>
                    </a:lnL>
                    <a:solidFill>
                      <a:srgbClr val="D5E8D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Plain-language explanations that can be inspected and discussed with experts.</a:t>
                      </a:r>
                    </a:p>
                  </a:txBody>
                  <a:tcPr marL="91440" marR="91440" marT="45720" marB="45720">
                    <a:solidFill>
                      <a:srgbClr val="FCFC9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Source-linked guidance with facts and provision references.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002060"/>
                      </a:solidFill>
                      <a:prstDash val="solid"/>
                    </a:lnR>
                    <a:solidFill>
                      <a:srgbClr val="FAC090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Cultivators and TK holders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002060"/>
                      </a:solidFill>
                      <a:prstDash val="solid"/>
                    </a:lnL>
                    <a:solidFill>
                      <a:srgbClr val="FCFC9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Earlier visibility of resource-origin and benefit-sharing questions.</a:t>
                      </a:r>
                    </a:p>
                  </a:txBody>
                  <a:tcPr marL="91440" marR="91440" marT="45720" marB="45720">
                    <a:solidFill>
                      <a:srgbClr val="FAC09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A sourcing record and unresolved biodiversity checkpoints.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002060"/>
                      </a:solidFill>
                      <a:prstDash val="solid"/>
                    </a:lnR>
                    <a:solidFill>
                      <a:srgbClr val="F2CEEF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IP facilitators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002060"/>
                      </a:solidFill>
                      <a:prstDash val="solid"/>
                    </a:lnL>
                    <a:lnB w="9525">
                      <a:solidFill>
                        <a:srgbClr val="002060"/>
                      </a:solidFill>
                      <a:prstDash val="soli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A structured case instead of an unorganised conversation.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002060"/>
                      </a:solidFill>
                      <a:prstDash val="soli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Confirmed facts, evidence and issues ready for professional review.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002060"/>
                      </a:solidFill>
                      <a:prstDash val="solid"/>
                    </a:lnR>
                    <a:lnB w="9525">
                      <a:solidFill>
                        <a:srgbClr val="002060"/>
                      </a:solidFill>
                      <a:prstDash val="solid"/>
                    </a:lnB>
                    <a:solidFill>
                      <a:srgbClr val="DAE8FC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FFAF8-D1D8-437A-BBA5-C13EF90D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48375"/>
            <a:ext cx="14535150" cy="438150"/>
          </a:xfrm>
          <a:prstGeom xmlns:a="http://schemas.openxmlformats.org/drawingml/2006/main" prst="roundRect">
            <a:avLst>
              <a:gd name="adj" fmla="val 43478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A703F-2189-4885-8AE7-A4FAF597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34100"/>
            <a:ext cx="1423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THE PILOT WILL ASSESS BENEFIT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2F26F-B589-4BC2-BF58-713BE386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6734175"/>
            <a:ext cx="4533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Guidance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172E0-F420-4666-AE4B-FB2EA978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7229475"/>
            <a:ext cx="4448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Expert review of correctness, citation support and uncertainty handling.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69DA6-BF6E-4E32-9B1F-8F3C011A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734175"/>
            <a:ext cx="4533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Review effort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B0876-063C-4A78-AB79-E9152689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229475"/>
            <a:ext cx="4448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Compare the work needed to prepare and review a structured case.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657AE-2B2B-45EE-A702-9A77AFDD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6734175"/>
            <a:ext cx="4533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Language accessibility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75E0A-95A4-4C13-A936-1FC109B7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7229475"/>
            <a:ext cx="4448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Check comprehension and usability across English and Hindi journeys.</a:t>
            </a:r>
          </a:p>
        </p:txBody>
      </p:sp>
    </p:spTree>
    <p:extLst>
      <p:ext uri="{BB962C8B-B14F-4D97-AF65-F5344CB8AC3E}">
        <p14:creationId xmlns:p14="http://schemas.microsoft.com/office/powerpoint/2010/main" val="1314328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F57CAE-4BEC-4A4E-AD1C-1C89510E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"/>
            <a:ext cx="2238375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C33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AD3C5-F147-415F-B4AA-36E688C5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NAUT 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8B164-D00E-4EF6-A5D7-CA56F1D9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"/>
            <a:ext cx="9715500" cy="581025"/>
          </a:xfrm>
          <a:prstGeom xmlns:a="http://schemas.openxmlformats.org/drawingml/2006/main" prst="roundRect">
            <a:avLst>
              <a:gd name="adj" fmla="val 32787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EE4E3-7803-4212-AF94-2DCC6ED0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RESEARCH AND REFERENCES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ecc164aff46fb"/>
          <a:stretch xmlns:a="http://schemas.openxmlformats.org/drawingml/2006/main"/>
        </p:blipFill>
        <p:spPr>
          <a:xfrm xmlns:a="http://schemas.openxmlformats.org/drawingml/2006/main">
            <a:off x="12851187" y="76200"/>
            <a:ext cx="2167776" cy="1028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3490F-1F8A-4A5A-8C83-1C46BF37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33475"/>
            <a:ext cx="7105650" cy="4572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B8D66-7276-40DE-BEEA-A49BE018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680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OFFICIAL SOURCES FOR THE PROPOSED CORPUS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9CF9F-6BC9-4D3E-82EE-355B0FFF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33475"/>
            <a:ext cx="7124700" cy="4572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202D0-DD67-498F-9373-834BFEA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19200"/>
            <a:ext cx="681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RESEARCH SUPPORTING THE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8360A-A35E-4C28-A512-2F66E9CD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90700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DCB0D-B5B8-4B52-BC82-4B60B5FE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90700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India Code and IP India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E78E1-0B3F-4C2B-AC7E-95EB2C35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2885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Patents Act, rules and amendments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D34B7-00DC-4AF7-A2F4-E43755A1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0032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2060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763beac38d74604"/>
              </a:rPr>
              <a:t>indiacode.nic.in / ipindia.gov.in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18E97-3352-40C6-9F63-9A63F229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28950"/>
            <a:ext cx="710565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A495D-8C79-4413-9FAD-B7F456FF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171825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AEA5D-5490-4783-835E-8E3EF46C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71825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CDSCO and FSSAI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14EDA-FB6E-465C-B295-85367423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0997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Product definitions and Ayurveda Aahara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3E536-B62C-41D2-BF56-6F1FDA08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8145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2060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3c7a3b486954ac3"/>
              </a:rPr>
              <a:t>cdsco.gov.in / fssai.gov.in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1F186-059D-401A-BDC2-6C9D399E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10075"/>
            <a:ext cx="710565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F8474-6E8F-44F6-8D74-8B9A9D66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F3844-9BAA-4208-871E-DD0DDDAE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52950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National Biodiversity Authority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51861-F1AC-4BB1-AD7C-163182E2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9110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Biodiversity framework and ABS regulations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2A30C-FAF5-4297-A3B8-3BD65CD9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36257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2060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2448f1e81454385"/>
              </a:rPr>
              <a:t>nbaindia.nic.in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D16984-5E9D-49A1-9E14-DFFAED42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791200"/>
            <a:ext cx="710565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0DC6DE-8F15-44F6-AA53-EDC7C3D9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34075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CBED8-84FA-4690-B904-8C84F8C2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934075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WIPO and TKDL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0D446-CAAF-4D6E-B603-B9F83202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7222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Treaty resources and traditional knowledge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BABDB6-2C83-4DCF-AEDA-41CD94DC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74370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2060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8542ad9ca40413a"/>
              </a:rPr>
              <a:t>wipo.int / tkdl.res.in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09205-93BD-44E0-9B0D-14E6BC62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172325"/>
            <a:ext cx="710565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3D8E52-CD8B-4A0B-9133-B6678832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90700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DAED1C-C4D8-4056-9A86-5E7E7C74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790700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ALCE, Gao et al. (2023)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E630D5-33B1-46BC-A16E-81F343E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2885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Answer generation with supporting citations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ECE2AE-609C-4572-87DC-C93AC8D6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0032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2060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88986217bcd4dbf"/>
              </a:rPr>
              <a:t>aclanthology.org/2023.emnlp-main.398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0BC4BC-5947-40C4-A491-31E59FAE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28950"/>
            <a:ext cx="710565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F7C86A-10C6-49DA-9E65-A7F0FE28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71825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7C7C56-3346-46E2-A645-1D681400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71825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LegalBench-RAG (2024)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C8DF06-6149-47C8-933F-890DC60B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0997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Evaluation of precise legal retrieval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F3069D-1F7E-4CA9-A73F-61DE5EBA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8145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2060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4c63c4d70114212"/>
              </a:rPr>
              <a:t>arxiv.org/abs/2408.10343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54CE0A-1C76-4FE7-989C-31526C4B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10075"/>
            <a:ext cx="710565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80ED76-D050-4C74-B43D-D4CAF540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552950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5B8234-F794-4085-9C7F-A0466FE2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552950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BGE-M3 (2024)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A984FF-53A0-406F-8AD7-6B1818FF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99110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Multilingual text embeddings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79C8BD-66BA-4C2D-8B9A-3BDFF6C5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6257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2060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a1a81bbc6914658"/>
              </a:rPr>
              <a:t>arxiv.org/abs/2402.03216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12820E-3E3C-45B2-BC7F-8A83B114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791200"/>
            <a:ext cx="710565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8A400A-ACB0-42C5-B6F4-AD6D563A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934075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2F0182-C6A0-40CF-9100-2B781DE3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934075"/>
            <a:ext cx="6343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IndicTrans2, Gala et al. (2023)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F57233-5A36-48AE-B6CE-A2FC797A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6372225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Translation across Indian languages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D1CE67-E45D-4058-800C-549CD8BA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6743700"/>
            <a:ext cx="6257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2060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c6bd69a440b4def"/>
              </a:rPr>
              <a:t>arxiv.org/abs/2305.16307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1100AA-4F7E-41CE-BE9E-1841568B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172325"/>
            <a:ext cx="7105650" cy="142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3D2C02-C6B9-429F-B4E4-54E3583A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505700"/>
            <a:ext cx="14535150" cy="828675"/>
          </a:xfrm>
          <a:prstGeom xmlns:a="http://schemas.openxmlformats.org/drawingml/2006/main" prst="roundRect">
            <a:avLst>
              <a:gd name="adj" fmla="val 22989"/>
            </a:avLst>
          </a:prstGeom>
          <a:solidFill xmlns:a="http://schemas.openxmlformats.org/drawingml/2006/main">
            <a:srgbClr val="DAE8FC"/>
          </a:solidFill>
          <a:ln xmlns:a="http://schemas.openxmlformats.org/drawingml/2006/main" w="14288">
            <a:solidFill>
              <a:srgbClr val="4F81BD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9231DF-EE89-472A-AD29-A41E91DE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0"/>
            <a:ext cx="14230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SOURCE HANDLING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4A4C6C-EB65-4DDC-9ED0-01F85B75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0"/>
            <a:ext cx="1409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Retain provision versions and effective dates. Review access permissions before ingestion.</a:t>
            </a:r>
          </a:p>
        </p:txBody>
      </p:sp>
    </p:spTree>
    <p:extLst>
      <p:ext uri="{BB962C8B-B14F-4D97-AF65-F5344CB8AC3E}">
        <p14:creationId xmlns:p14="http://schemas.microsoft.com/office/powerpoint/2010/main" val="557987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2026-09-24T18:23:48.0640000Z</dcterms:created>
  <dcterms:modified xsi:type="dcterms:W3CDTF">2026-09-24T18:23:48.0640000Z</dcterms:modified>
</coreProperties>
</file>